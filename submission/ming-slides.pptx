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a9121b335c49a8" /><Relationship Type="http://schemas.openxmlformats.org/officeDocument/2006/relationships/extended-properties" Target="/docProps/app.xml" Id="Re39ba2b9cdc843fa" /><Relationship Type="http://schemas.openxmlformats.org/officeDocument/2006/relationships/officeDocument" Target="/ppt/presentation.xml" Id="R1fb05d71fa854fc0" /></Relationships>
</file>

<file path=ppt/presentation.xml><?xml version="1.0" encoding="utf-8"?>
<p:presentation xmlns:p="http://schemas.openxmlformats.org/presentationml/2006/main">
  <p:sldMasterIdLst>
    <p:sldMasterId xmlns:r="http://schemas.openxmlformats.org/officeDocument/2006/relationships" id="2147483648" r:id="R9c92e3b7f7054620"/>
  </p:sldMasterIdLst>
  <p:notesMasterIdLst>
    <p:notesMasterId xmlns:r="http://schemas.openxmlformats.org/officeDocument/2006/relationships" r:id="R0cdb0ced227b442c"/>
  </p:notesMasterIdLst>
  <p:sldIdLst>
    <p:sldId xmlns:r="http://schemas.openxmlformats.org/officeDocument/2006/relationships" id="256" r:id="R746bedaf8cca4d64"/>
    <p:sldId xmlns:r="http://schemas.openxmlformats.org/officeDocument/2006/relationships" id="257" r:id="Re09063d087764131"/>
    <p:sldId xmlns:r="http://schemas.openxmlformats.org/officeDocument/2006/relationships" id="258" r:id="R61f414ac2b5146ed"/>
    <p:sldId xmlns:r="http://schemas.openxmlformats.org/officeDocument/2006/relationships" id="259" r:id="R05ec0631660a48a8"/>
    <p:sldId xmlns:r="http://schemas.openxmlformats.org/officeDocument/2006/relationships" id="260" r:id="Rafe4c1ed49a94165"/>
    <p:sldId xmlns:r="http://schemas.openxmlformats.org/officeDocument/2006/relationships" id="261" r:id="Rc423b945c9f246d7"/>
    <p:sldId xmlns:r="http://schemas.openxmlformats.org/officeDocument/2006/relationships" id="262" r:id="R510e444c086a4fed"/>
    <p:sldId xmlns:r="http://schemas.openxmlformats.org/officeDocument/2006/relationships" id="263" r:id="R716c46e9c6df49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34fd6fc174421c" /><Relationship Type="http://schemas.openxmlformats.org/officeDocument/2006/relationships/slideMaster" Target="/ppt/slideMasters/slideMaster1.xml" Id="R9c92e3b7f7054620" /><Relationship Type="http://schemas.openxmlformats.org/officeDocument/2006/relationships/notesMaster" Target="/ppt/notesMasters/notesMaster1.xml" Id="R0cdb0ced227b442c" /><Relationship Type="http://schemas.openxmlformats.org/officeDocument/2006/relationships/presProps" Target="/ppt/presProps.xml" Id="R8c47236c243a4e4d" /><Relationship Type="http://schemas.openxmlformats.org/officeDocument/2006/relationships/tableStyles" Target="/ppt/tableStyles.xml" Id="R664585cebbfa42d6" /><Relationship Type="http://schemas.openxmlformats.org/officeDocument/2006/relationships/slide" Target="/ppt/slides/slide1.xml" Id="R746bedaf8cca4d64" /><Relationship Type="http://schemas.openxmlformats.org/officeDocument/2006/relationships/slide" Target="/ppt/slides/slide2.xml" Id="Re09063d087764131" /><Relationship Type="http://schemas.openxmlformats.org/officeDocument/2006/relationships/slide" Target="/ppt/slides/slide3.xml" Id="R61f414ac2b5146ed" /><Relationship Type="http://schemas.openxmlformats.org/officeDocument/2006/relationships/slide" Target="/ppt/slides/slide4.xml" Id="R05ec0631660a48a8" /><Relationship Type="http://schemas.openxmlformats.org/officeDocument/2006/relationships/slide" Target="/ppt/slides/slide5.xml" Id="Rafe4c1ed49a94165" /><Relationship Type="http://schemas.openxmlformats.org/officeDocument/2006/relationships/slide" Target="/ppt/slides/slide6.xml" Id="Rc423b945c9f246d7" /><Relationship Type="http://schemas.openxmlformats.org/officeDocument/2006/relationships/slide" Target="/ppt/slides/slide7.xml" Id="R510e444c086a4fed" /><Relationship Type="http://schemas.openxmlformats.org/officeDocument/2006/relationships/slide" Target="/ppt/slides/slide8.xml" Id="R716c46e9c6df49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d45069a221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f9f053d9a242fc" /><Relationship Type="http://schemas.openxmlformats.org/officeDocument/2006/relationships/notesMaster" Target="/ppt/notesMasters/notesMaster1.xml" Id="R1d2cb783e5304d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69e190b39c4e4f" /><Relationship Type="http://schemas.openxmlformats.org/officeDocument/2006/relationships/notesMaster" Target="/ppt/notesMasters/notesMaster1.xml" Id="R137da1d3bc4b4e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0d0e1fa8804b6f" /><Relationship Type="http://schemas.openxmlformats.org/officeDocument/2006/relationships/notesMaster" Target="/ppt/notesMasters/notesMaster1.xml" Id="Rf3a44490bf8648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7873cf5c6a41de" /><Relationship Type="http://schemas.openxmlformats.org/officeDocument/2006/relationships/notesMaster" Target="/ppt/notesMasters/notesMaster1.xml" Id="Re77e8f8cdf524d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0bbb9c0a424bc1" /><Relationship Type="http://schemas.openxmlformats.org/officeDocument/2006/relationships/notesMaster" Target="/ppt/notesMasters/notesMaster1.xml" Id="Reecdfc8e7f8045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19bb1b73ca4553" /><Relationship Type="http://schemas.openxmlformats.org/officeDocument/2006/relationships/notesMaster" Target="/ppt/notesMasters/notesMaster1.xml" Id="Raa9a410866eb44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0be5ef902a4ae3" /><Relationship Type="http://schemas.openxmlformats.org/officeDocument/2006/relationships/notesMaster" Target="/ppt/notesMasters/notesMaster1.xml" Id="Rb0ef31f8cddb46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ced5e053149c4" /><Relationship Type="http://schemas.openxmlformats.org/officeDocument/2006/relationships/notesMaster" Target="/ppt/notesMasters/notesMaster1.xml" Id="R8162ab1bcaf946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 helps developers check the features that coding AI says are complete. The welcome illustration is concept artwork, not execution evidence. Source artwork: apps/web/public/welcome/inspection-room.png; provenance: docs/WELCOME_ART_ASSETS.md. Product sources: README.md and docs/UPLOADED_PROJECTS.md.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supplied by the project owner: after AI announces completion, the developer manually opens the page, clicks through requirements, captures failures, explains them to AI, and repeats after each edit. No measured percentage or time saving is claimed. Source: docs/submission/problem-solution.md.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Add app / Describe / Review / Results workflow. Screenshot: docs/evidence/simple-workflow/2026-09-27T04-03-10-108Z-after-4187825e/03-draft-review-desktop.png, latest redesigned interface. Its planner response was a local test fixture; it illustrates the UI, not live generation proof. The separate actual provider evidence is on slide 4. Supported HTML/static ZIP/public static GitHub folders; human reviews draft before explicit approval and execution. Source: docs/SIMPLE_WORKFLOW_REVIEW.md and docs/DOUBAO_PLANNING.md.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docs/evidence/shipboard-doubao/2026-09-26T17-49-25-055Z-0db01f40/production-report.json, buggy-evidence.json and corrected-evidence.json. One actual Doubao Seed 2.0 Pro call proposed nine steps covering blank-name validation, task creation and persistence. The browser executed the buggy upload and failed after reload. A prepared corrected source then passed all nine unchanged steps. These images are original DOM-rendered captures, not native screenshots. This hosted case uses a prepared correction and does not demonstrate autonomous AI repair. The separate local coding-agent MCP repair is documented in docs/judge-evidence/manifest.json.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docs/UPLOADED_PROJECTS.md, docs/GITHUB_IMPORT.md, docs/evidence/shipboard-doubao/2026-09-26T17-49-25-055Z-0db01f40/repair-brief.txt, apps/web/src/upload/runtime.ts, README.md section Connect a coding agent, docs/judge-evidence/manifest.json. The hosted path copies a brief for the user to paste into their coding AI; it does not wake an editor or modify a repository. The local 12-tool MCP adapter supports authorized coding agents reading evidence and rerunning the confirmed standard. The actual local source repair used an additional coding tool after Bob helped build the initial 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unaltered image: bob_sessions/ming_task02_stage_a_final_summary.png. Task ID 2b41a80061020f364f496c02d0c9c5e7. This Stage A task-consumption summary records real development activity and includes a failed command. It does not independently prove that every check passed. Bob contribution details and independent verification: docs/STAGE_B_RESULTS.md, docs/STAGE_C_STATUS.md, bob_sessions/README.md, bob_sessions/manifest.json. Bob implemented the initial Stage A runner/service/UI, Stage B provider draft validation/confirmation, and partial Stage C repair/MCP foundations. Subsequent development with additional tools completed and extended the product after the trial quota ended. No watsonx.ai or watsonx Orchestrate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docs/UPLOADED_PROJECTS.md, docs/DOUBAO_PLANNING.md, docs/SIMPLE_WORKFLOW_REVIEW.md and README.md supported targets. Impact is described as operations performed and reusable evidence, not an unmeasured speedup. Hosted flow supports built static websites; it does not install packages, start backends or allow external-network calls in the preview. Local execution supports same-origin development applications with browser evidence. Every result covers only the approved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links: https://ming-acceptance-proof.amosming.chatgpt.site and https://github.com/Ming-Amos/Ming. Bob task screenshots: https://github.com/Ming-Amos/Ming/tree/main/bob_sessions. Access remains owner-private at deck preparation; the owner must enable and verify judge access before submitting. No formal competition submission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b5254867074e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e60d30dedc4c3e" /><Relationship Type="http://schemas.openxmlformats.org/officeDocument/2006/relationships/slideLayout" Target="/ppt/slideLayouts/slideLayout1.xml" Id="R163b07440b5c48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3b07440b5c48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277d7082c94b62" /><Relationship Type="http://schemas.openxmlformats.org/officeDocument/2006/relationships/image" Target="/ppt/media/image.png" Id="Raa8a229fb784487c" /><Relationship Type="http://schemas.openxmlformats.org/officeDocument/2006/relationships/notesSlide" Target="/ppt/notesSlides/notesSlide1.xml" Id="Rfce1b27d790e42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648d72a27b48d0" /><Relationship Type="http://schemas.openxmlformats.org/officeDocument/2006/relationships/notesSlide" Target="/ppt/notesSlides/notesSlide2.xml" Id="Rc95313deba99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d8bbf19c504b5d" /><Relationship Type="http://schemas.openxmlformats.org/officeDocument/2006/relationships/image" Target="/ppt/media/image2.png" Id="R419509b887dc4154" /><Relationship Type="http://schemas.openxmlformats.org/officeDocument/2006/relationships/notesSlide" Target="/ppt/notesSlides/notesSlide3.xml" Id="R49f4b08dd15b4f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a49669d8cc4dd0" /><Relationship Type="http://schemas.openxmlformats.org/officeDocument/2006/relationships/image" Target="/ppt/media/image3.png" Id="Rb8c35f8f18724023" /><Relationship Type="http://schemas.openxmlformats.org/officeDocument/2006/relationships/image" Target="/ppt/media/image4.png" Id="R39850ed3357344cc" /><Relationship Type="http://schemas.openxmlformats.org/officeDocument/2006/relationships/notesSlide" Target="/ppt/notesSlides/notesSlide4.xml" Id="R8c7e9afa68934e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971776b4e94dc7" /><Relationship Type="http://schemas.openxmlformats.org/officeDocument/2006/relationships/notesSlide" Target="/ppt/notesSlides/notesSlide5.xml" Id="R69379920fcd146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7231161802432e" /><Relationship Type="http://schemas.openxmlformats.org/officeDocument/2006/relationships/image" Target="/ppt/media/image5.png" Id="R869bbec1a4064563" /><Relationship Type="http://schemas.openxmlformats.org/officeDocument/2006/relationships/notesSlide" Target="/ppt/notesSlides/notesSlide6.xml" Id="R31dc399f2d4243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45e912719c4c17" /><Relationship Type="http://schemas.openxmlformats.org/officeDocument/2006/relationships/notesSlide" Target="/ppt/notesSlides/notesSlide7.xml" Id="R79b1aa4e1ced4b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f8baf336604d80" /><Relationship Type="http://schemas.openxmlformats.org/officeDocument/2006/relationships/image" Target="/ppt/media/image6.png" Id="R05e248a546064e3b" /><Relationship Type="http://schemas.openxmlformats.org/officeDocument/2006/relationships/hyperlink" Target="https://ming-acceptance-proof.amosming.chatgpt.site" TargetMode="External" Id="R32ff9fb487f94980" /><Relationship Type="http://schemas.openxmlformats.org/officeDocument/2006/relationships/hyperlink" Target="https://github.com/Ming-Amos/Ming" TargetMode="External" Id="R23f0aff73b6545a0" /><Relationship Type="http://schemas.openxmlformats.org/officeDocument/2006/relationships/notesSlide" Target="/ppt/notesSlides/notesSlide8.xml" Id="R8d79e91caf204e06" /></Relationships>
</file>

<file path=ppt/slides/slide1.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a8a229fb784487c"/>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29596D3-0134-4CC9-92CD-C457D23DF608}"/>
              </a:ext>
            </a:extLst>
          </p:cNvPr>
          <p:cNvSpPr>
            <a:spLocks xmlns:a="http://schemas.openxmlformats.org/drawingml/2006/main" noGrp="1"/>
          </p:cNvSpPr>
          <p:nvPr/>
        </p:nvSpPr>
        <p:spPr>
          <a:xfrm xmlns:a="http://schemas.openxmlformats.org/drawingml/2006/main">
            <a:off x="609600" y="1028700"/>
            <a:ext cx="638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0" b="0">
                <a:solidFill>
                  <a:srgbClr val="EDF1FB"/>
                </a:solidFill>
                <a:latin typeface="Georgia"/>
                <a:ea typeface="Georgia"/>
                <a:cs typeface="Georgia"/>
              </a:defRPr>
            </a:pPr>
            <a:r>
              <a:rPr sz="8250" b="0">
                <a:solidFill>
                  <a:srgbClr val="EDF1FB"/>
                </a:solidFill>
                <a:latin typeface="Georgia"/>
                <a:ea typeface="Georgia"/>
                <a:cs typeface="Georgia"/>
              </a:rPr>
              <a:t>Ming</a:t>
            </a:r>
          </a:p>
        </p:txBody>
      </p:sp>
      <p:sp>
        <p:nvSpPr>
          <p:cNvPr id="3" name="text-2">
            <a:extLst xmlns:a="http://schemas.openxmlformats.org/drawingml/2006/main">
              <a:ext uri="{FF2B5EF4-FFF2-40B4-BE49-F238E27FC236}">
                <a16:creationId xmlns:a16="http://schemas.microsoft.com/office/drawing/2014/main" id="{35F1AAE9-7809-4F26-9C1C-0BF3EA707C07}"/>
              </a:ext>
            </a:extLst>
          </p:cNvPr>
          <p:cNvSpPr>
            <a:spLocks xmlns:a="http://schemas.openxmlformats.org/drawingml/2006/main" noGrp="1"/>
          </p:cNvSpPr>
          <p:nvPr/>
        </p:nvSpPr>
        <p:spPr>
          <a:xfrm xmlns:a="http://schemas.openxmlformats.org/drawingml/2006/main">
            <a:off x="666750" y="2476500"/>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EDF1FB"/>
                </a:solidFill>
                <a:latin typeface="Arial"/>
                <a:ea typeface="Arial"/>
                <a:cs typeface="Arial"/>
              </a:defRPr>
            </a:pPr>
            <a:r>
              <a:rPr sz="2850" b="1">
                <a:solidFill>
                  <a:srgbClr val="EDF1FB"/>
                </a:solidFill>
                <a:latin typeface="Arial"/>
                <a:ea typeface="Arial"/>
                <a:cs typeface="Arial"/>
              </a:rPr>
              <a:t>Every “done” comes with proof</a:t>
            </a:r>
          </a:p>
        </p:txBody>
      </p:sp>
      <p:sp>
        <p:nvSpPr>
          <p:cNvPr id="4" name="text-3">
            <a:extLst xmlns:a="http://schemas.openxmlformats.org/drawingml/2006/main">
              <a:ext uri="{FF2B5EF4-FFF2-40B4-BE49-F238E27FC236}">
                <a16:creationId xmlns:a16="http://schemas.microsoft.com/office/drawing/2014/main" id="{FC2DEA4D-1A21-4D4C-8AA7-4407B6E94ADD}"/>
              </a:ext>
            </a:extLst>
          </p:cNvPr>
          <p:cNvSpPr>
            <a:spLocks xmlns:a="http://schemas.openxmlformats.org/drawingml/2006/main" noGrp="1"/>
          </p:cNvSpPr>
          <p:nvPr/>
        </p:nvSpPr>
        <p:spPr>
          <a:xfrm xmlns:a="http://schemas.openxmlformats.org/drawingml/2006/main">
            <a:off x="685800" y="3448050"/>
            <a:ext cx="6048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94B8FF"/>
                </a:solidFill>
                <a:latin typeface="Arial"/>
                <a:ea typeface="Arial"/>
                <a:cs typeface="Arial"/>
              </a:defRPr>
            </a:pPr>
            <a:r>
              <a:rPr sz="2550" b="0">
                <a:solidFill>
                  <a:srgbClr val="94B8FF"/>
                </a:solidFill>
                <a:latin typeface="Arial"/>
                <a:ea typeface="Arial"/>
                <a:cs typeface="Arial"/>
              </a:rPr>
              <a:t>Automatic acceptance for</a:t>
            </a:r>
          </a:p>
          <a:p xmlns:a="http://schemas.openxmlformats.org/drawingml/2006/main">
            <a:pPr algn="l">
              <a:defRPr sz="2550" b="0">
                <a:solidFill>
                  <a:srgbClr val="94B8FF"/>
                </a:solidFill>
                <a:latin typeface="Arial"/>
                <a:ea typeface="Arial"/>
                <a:cs typeface="Arial"/>
              </a:defRPr>
            </a:pPr>
            <a:r>
              <a:rPr sz="2550" b="0">
                <a:solidFill>
                  <a:srgbClr val="94B8FF"/>
                </a:solidFill>
                <a:latin typeface="Arial"/>
                <a:ea typeface="Arial"/>
                <a:cs typeface="Arial"/>
              </a:rPr>
              <a:t>features built with AI</a:t>
            </a:r>
          </a:p>
        </p:txBody>
      </p:sp>
      <p:sp>
        <p:nvSpPr>
          <p:cNvPr id="5" name="text-4">
            <a:extLst xmlns:a="http://schemas.openxmlformats.org/drawingml/2006/main">
              <a:ext uri="{FF2B5EF4-FFF2-40B4-BE49-F238E27FC236}">
                <a16:creationId xmlns:a16="http://schemas.microsoft.com/office/drawing/2014/main" id="{2E823E6B-00A6-4242-8E5A-57E577F4DC58}"/>
              </a:ext>
            </a:extLst>
          </p:cNvPr>
          <p:cNvSpPr>
            <a:spLocks xmlns:a="http://schemas.openxmlformats.org/drawingml/2006/main" noGrp="1"/>
          </p:cNvSpPr>
          <p:nvPr/>
        </p:nvSpPr>
        <p:spPr>
          <a:xfrm xmlns:a="http://schemas.openxmlformats.org/drawingml/2006/main">
            <a:off x="704850" y="602932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A7B5D1"/>
                </a:solidFill>
                <a:latin typeface="Arial"/>
                <a:ea typeface="Arial"/>
                <a:cs typeface="Arial"/>
              </a:defRPr>
            </a:pPr>
            <a:r>
              <a:rPr sz="1725" b="0">
                <a:solidFill>
                  <a:srgbClr val="A7B5D1"/>
                </a:solidFill>
                <a:latin typeface="Arial"/>
                <a:ea typeface="Arial"/>
                <a:cs typeface="Arial"/>
              </a:rPr>
              <a:t>IBM Bob 2.0 Hackathon</a:t>
            </a:r>
          </a:p>
        </p:txBody>
      </p:sp>
    </p:spTree>
    <p:extLst>
      <p:ext uri="{BB962C8B-B14F-4D97-AF65-F5344CB8AC3E}">
        <p14:creationId xmlns:p14="http://schemas.microsoft.com/office/powerpoint/2010/main" val="216533832"/>
      </p:ext>
    </p:extLst>
  </p:cSld>
</p:sld>
</file>

<file path=ppt/slides/slide2.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4" name="text-5">
            <a:extLst xmlns:a="http://schemas.openxmlformats.org/drawingml/2006/main">
              <a:ext uri="{FF2B5EF4-FFF2-40B4-BE49-F238E27FC236}">
                <a16:creationId xmlns:a16="http://schemas.microsoft.com/office/drawing/2014/main" id="{0766C815-B274-4209-AB66-CBDEDF24466B}"/>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EDF1FB"/>
                </a:solidFill>
                <a:latin typeface="Arial"/>
                <a:ea typeface="Arial"/>
                <a:cs typeface="Arial"/>
              </a:defRPr>
            </a:pPr>
            <a:r>
              <a:rPr sz="3300" b="1">
                <a:solidFill>
                  <a:srgbClr val="EDF1FB"/>
                </a:solidFill>
                <a:latin typeface="Arial"/>
                <a:ea typeface="Arial"/>
                <a:cs typeface="Arial"/>
              </a:rPr>
              <a:t>The work left after “done”</a:t>
            </a:r>
          </a:p>
        </p:txBody>
      </p:sp>
      <p:sp>
        <p:nvSpPr>
          <p:cNvPr id="2" name="text-6">
            <a:extLst xmlns:a="http://schemas.openxmlformats.org/drawingml/2006/main">
              <a:ext uri="{FF2B5EF4-FFF2-40B4-BE49-F238E27FC236}">
                <a16:creationId xmlns:a16="http://schemas.microsoft.com/office/drawing/2014/main" id="{0A0B7C36-C6C6-4BA9-A287-EADEE041AF98}"/>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A7B5D1"/>
                </a:solidFill>
                <a:latin typeface="Georgia"/>
                <a:ea typeface="Georgia"/>
                <a:cs typeface="Georgia"/>
              </a:defRPr>
            </a:pPr>
            <a:r>
              <a:rPr sz="1350" b="0">
                <a:solidFill>
                  <a:srgbClr val="A7B5D1"/>
                </a:solidFill>
                <a:latin typeface="Georgia"/>
                <a:ea typeface="Georgia"/>
                <a:cs typeface="Georgia"/>
              </a:rPr>
              <a:t>Ming</a:t>
            </a:r>
          </a:p>
        </p:txBody>
      </p:sp>
      <p:sp>
        <p:nvSpPr>
          <p:cNvPr id="3" name="text-7">
            <a:extLst xmlns:a="http://schemas.openxmlformats.org/drawingml/2006/main">
              <a:ext uri="{FF2B5EF4-FFF2-40B4-BE49-F238E27FC236}">
                <a16:creationId xmlns:a16="http://schemas.microsoft.com/office/drawing/2014/main" id="{782E397B-3A52-41D8-9168-297119395422}"/>
              </a:ext>
            </a:extLst>
          </p:cNvPr>
          <p:cNvSpPr>
            <a:spLocks xmlns:a="http://schemas.openxmlformats.org/drawingml/2006/main" noGrp="1"/>
          </p:cNvSpPr>
          <p:nvPr/>
        </p:nvSpPr>
        <p:spPr>
          <a:xfrm xmlns:a="http://schemas.openxmlformats.org/drawingml/2006/main">
            <a:off x="10763250" y="63817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A7B5D1"/>
                </a:solidFill>
                <a:latin typeface="Arial"/>
                <a:ea typeface="Arial"/>
                <a:cs typeface="Arial"/>
              </a:defRPr>
            </a:pPr>
            <a:r>
              <a:rPr sz="1200" b="0">
                <a:solidFill>
                  <a:srgbClr val="A7B5D1"/>
                </a:solidFill>
                <a:latin typeface="Arial"/>
                <a:ea typeface="Arial"/>
                <a:cs typeface="Arial"/>
              </a:rPr>
              <a:t>02 / 08</a:t>
            </a:r>
          </a:p>
        </p:txBody>
      </p:sp>
      <p:sp>
        <p:nvSpPr>
          <p:cNvPr id="4" name="text-8">
            <a:extLst xmlns:a="http://schemas.openxmlformats.org/drawingml/2006/main">
              <a:ext uri="{FF2B5EF4-FFF2-40B4-BE49-F238E27FC236}">
                <a16:creationId xmlns:a16="http://schemas.microsoft.com/office/drawing/2014/main" id="{16E14273-6E02-4125-ABAF-B7083C4E84C6}"/>
              </a:ext>
            </a:extLst>
          </p:cNvPr>
          <p:cNvSpPr>
            <a:spLocks xmlns:a="http://schemas.openxmlformats.org/drawingml/2006/main" noGrp="1"/>
          </p:cNvSpPr>
          <p:nvPr/>
        </p:nvSpPr>
        <p:spPr>
          <a:xfrm xmlns:a="http://schemas.openxmlformats.org/drawingml/2006/main">
            <a:off x="609600" y="1638300"/>
            <a:ext cx="5334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825" b="1">
                <a:solidFill>
                  <a:srgbClr val="EDF1FB"/>
                </a:solidFill>
                <a:latin typeface="Arial"/>
                <a:ea typeface="Arial"/>
                <a:cs typeface="Arial"/>
              </a:defRPr>
            </a:pPr>
            <a:r>
              <a:rPr sz="3825" b="1">
                <a:solidFill>
                  <a:srgbClr val="EDF1FB"/>
                </a:solidFill>
                <a:latin typeface="Arial"/>
                <a:ea typeface="Arial"/>
                <a:cs typeface="Arial"/>
              </a:rPr>
              <a:t>AI says the feature</a:t>
            </a:r>
          </a:p>
          <a:p xmlns:a="http://schemas.openxmlformats.org/drawingml/2006/main">
            <a:pPr algn="l">
              <a:defRPr sz="3825" b="1">
                <a:solidFill>
                  <a:srgbClr val="EDF1FB"/>
                </a:solidFill>
                <a:latin typeface="Arial"/>
                <a:ea typeface="Arial"/>
                <a:cs typeface="Arial"/>
              </a:defRPr>
            </a:pPr>
            <a:r>
              <a:rPr sz="3825" b="1">
                <a:solidFill>
                  <a:srgbClr val="EDF1FB"/>
                </a:solidFill>
                <a:latin typeface="Arial"/>
                <a:ea typeface="Arial"/>
                <a:cs typeface="Arial"/>
              </a:rPr>
              <a:t>is finished.</a:t>
            </a:r>
          </a:p>
        </p:txBody>
      </p:sp>
      <p:sp>
        <p:nvSpPr>
          <p:cNvPr id="5" name="text-9">
            <a:extLst xmlns:a="http://schemas.openxmlformats.org/drawingml/2006/main">
              <a:ext uri="{FF2B5EF4-FFF2-40B4-BE49-F238E27FC236}">
                <a16:creationId xmlns:a16="http://schemas.microsoft.com/office/drawing/2014/main" id="{192BBC61-D031-4A18-9A86-CEAC08EFF2A5}"/>
              </a:ext>
            </a:extLst>
          </p:cNvPr>
          <p:cNvSpPr>
            <a:spLocks xmlns:a="http://schemas.openxmlformats.org/drawingml/2006/main" noGrp="1"/>
          </p:cNvSpPr>
          <p:nvPr/>
        </p:nvSpPr>
        <p:spPr>
          <a:xfrm xmlns:a="http://schemas.openxmlformats.org/drawingml/2006/main">
            <a:off x="628650" y="3733800"/>
            <a:ext cx="5000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94B8FF"/>
                </a:solidFill>
                <a:latin typeface="Arial"/>
                <a:ea typeface="Arial"/>
                <a:cs typeface="Arial"/>
              </a:defRPr>
            </a:pPr>
            <a:r>
              <a:rPr sz="2325" b="0">
                <a:solidFill>
                  <a:srgbClr val="94B8FF"/>
                </a:solidFill>
                <a:latin typeface="Arial"/>
                <a:ea typeface="Arial"/>
                <a:cs typeface="Arial"/>
              </a:rPr>
              <a:t>The developer still has</a:t>
            </a:r>
          </a:p>
          <a:p xmlns:a="http://schemas.openxmlformats.org/drawingml/2006/main">
            <a:pPr algn="l">
              <a:defRPr sz="2325" b="0">
                <a:solidFill>
                  <a:srgbClr val="94B8FF"/>
                </a:solidFill>
                <a:latin typeface="Arial"/>
                <a:ea typeface="Arial"/>
                <a:cs typeface="Arial"/>
              </a:defRPr>
            </a:pPr>
            <a:r>
              <a:rPr sz="2325" b="0">
                <a:solidFill>
                  <a:srgbClr val="94B8FF"/>
                </a:solidFill>
                <a:latin typeface="Arial"/>
                <a:ea typeface="Arial"/>
                <a:cs typeface="Arial"/>
              </a:rPr>
              <a:t>a second job: checking it.</a:t>
            </a:r>
          </a:p>
        </p:txBody>
      </p:sp>
      <p:sp>
        <p:nvSpPr>
          <p:cNvPr id="6" name="text-10">
            <a:extLst xmlns:a="http://schemas.openxmlformats.org/drawingml/2006/main">
              <a:ext uri="{FF2B5EF4-FFF2-40B4-BE49-F238E27FC236}">
                <a16:creationId xmlns:a16="http://schemas.microsoft.com/office/drawing/2014/main" id="{F9BF82A4-9A40-4432-B550-14DC068EC91B}"/>
              </a:ext>
            </a:extLst>
          </p:cNvPr>
          <p:cNvSpPr>
            <a:spLocks xmlns:a="http://schemas.openxmlformats.org/drawingml/2006/main" noGrp="1"/>
          </p:cNvSpPr>
          <p:nvPr/>
        </p:nvSpPr>
        <p:spPr>
          <a:xfrm xmlns:a="http://schemas.openxmlformats.org/drawingml/2006/main">
            <a:off x="6496050" y="16764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C0A6FF"/>
                </a:solidFill>
                <a:latin typeface="Arial"/>
                <a:ea typeface="Arial"/>
                <a:cs typeface="Arial"/>
              </a:defRPr>
            </a:pPr>
            <a:r>
              <a:rPr sz="1875" b="1">
                <a:solidFill>
                  <a:srgbClr val="C0A6FF"/>
                </a:solidFill>
                <a:latin typeface="Arial"/>
                <a:ea typeface="Arial"/>
                <a:cs typeface="Arial"/>
              </a:rPr>
              <a:t>01</a:t>
            </a:r>
          </a:p>
        </p:txBody>
      </p:sp>
      <p:sp>
        <p:nvSpPr>
          <p:cNvPr id="7" name="text-11">
            <a:extLst xmlns:a="http://schemas.openxmlformats.org/drawingml/2006/main">
              <a:ext uri="{FF2B5EF4-FFF2-40B4-BE49-F238E27FC236}">
                <a16:creationId xmlns:a16="http://schemas.microsoft.com/office/drawing/2014/main" id="{A409AEB7-B95B-41B8-BEB9-783EE9DA7541}"/>
              </a:ext>
            </a:extLst>
          </p:cNvPr>
          <p:cNvSpPr>
            <a:spLocks xmlns:a="http://schemas.openxmlformats.org/drawingml/2006/main" noGrp="1"/>
          </p:cNvSpPr>
          <p:nvPr/>
        </p:nvSpPr>
        <p:spPr>
          <a:xfrm xmlns:a="http://schemas.openxmlformats.org/drawingml/2006/main">
            <a:off x="7162800" y="1676400"/>
            <a:ext cx="4305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EDF1FB"/>
                </a:solidFill>
                <a:latin typeface="Arial"/>
                <a:ea typeface="Arial"/>
                <a:cs typeface="Arial"/>
              </a:defRPr>
            </a:pPr>
            <a:r>
              <a:rPr sz="2100" b="0">
                <a:solidFill>
                  <a:srgbClr val="EDF1FB"/>
                </a:solidFill>
                <a:latin typeface="Arial"/>
                <a:ea typeface="Arial"/>
                <a:cs typeface="Arial"/>
              </a:rPr>
              <a:t>Open the app and repeat the steps</a:t>
            </a:r>
          </a:p>
        </p:txBody>
      </p:sp>
      <p:sp>
        <p:nvSpPr>
          <p:cNvPr id="8" name="text-12">
            <a:extLst xmlns:a="http://schemas.openxmlformats.org/drawingml/2006/main">
              <a:ext uri="{FF2B5EF4-FFF2-40B4-BE49-F238E27FC236}">
                <a16:creationId xmlns:a16="http://schemas.microsoft.com/office/drawing/2014/main" id="{2AC7C2FC-90A2-40D9-A7FD-52F8E06E88DB}"/>
              </a:ext>
            </a:extLst>
          </p:cNvPr>
          <p:cNvSpPr>
            <a:spLocks xmlns:a="http://schemas.openxmlformats.org/drawingml/2006/main" noGrp="1"/>
          </p:cNvSpPr>
          <p:nvPr/>
        </p:nvSpPr>
        <p:spPr>
          <a:xfrm xmlns:a="http://schemas.openxmlformats.org/drawingml/2006/main">
            <a:off x="6496050" y="26670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C0A6FF"/>
                </a:solidFill>
                <a:latin typeface="Arial"/>
                <a:ea typeface="Arial"/>
                <a:cs typeface="Arial"/>
              </a:defRPr>
            </a:pPr>
            <a:r>
              <a:rPr sz="1875" b="1">
                <a:solidFill>
                  <a:srgbClr val="C0A6FF"/>
                </a:solidFill>
                <a:latin typeface="Arial"/>
                <a:ea typeface="Arial"/>
                <a:cs typeface="Arial"/>
              </a:rPr>
              <a:t>02</a:t>
            </a:r>
          </a:p>
        </p:txBody>
      </p:sp>
      <p:sp>
        <p:nvSpPr>
          <p:cNvPr id="9" name="text-13">
            <a:extLst xmlns:a="http://schemas.openxmlformats.org/drawingml/2006/main">
              <a:ext uri="{FF2B5EF4-FFF2-40B4-BE49-F238E27FC236}">
                <a16:creationId xmlns:a16="http://schemas.microsoft.com/office/drawing/2014/main" id="{2A1CD74D-4599-49B9-80C2-AFE7527C9344}"/>
              </a:ext>
            </a:extLst>
          </p:cNvPr>
          <p:cNvSpPr>
            <a:spLocks xmlns:a="http://schemas.openxmlformats.org/drawingml/2006/main" noGrp="1"/>
          </p:cNvSpPr>
          <p:nvPr/>
        </p:nvSpPr>
        <p:spPr>
          <a:xfrm xmlns:a="http://schemas.openxmlformats.org/drawingml/2006/main">
            <a:off x="7162800" y="2667000"/>
            <a:ext cx="4305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EDF1FB"/>
                </a:solidFill>
                <a:latin typeface="Arial"/>
                <a:ea typeface="Arial"/>
                <a:cs typeface="Arial"/>
              </a:defRPr>
            </a:pPr>
            <a:r>
              <a:rPr sz="2100" b="0">
                <a:solidFill>
                  <a:srgbClr val="EDF1FB"/>
                </a:solidFill>
                <a:latin typeface="Arial"/>
                <a:ea typeface="Arial"/>
                <a:cs typeface="Arial"/>
              </a:rPr>
              <a:t>Find the failure and capture it</a:t>
            </a:r>
          </a:p>
        </p:txBody>
      </p:sp>
      <p:sp>
        <p:nvSpPr>
          <p:cNvPr id="10" name="text-14">
            <a:extLst xmlns:a="http://schemas.openxmlformats.org/drawingml/2006/main">
              <a:ext uri="{FF2B5EF4-FFF2-40B4-BE49-F238E27FC236}">
                <a16:creationId xmlns:a16="http://schemas.microsoft.com/office/drawing/2014/main" id="{B44737B6-1152-45F7-A740-2E842B2EDA25}"/>
              </a:ext>
            </a:extLst>
          </p:cNvPr>
          <p:cNvSpPr>
            <a:spLocks xmlns:a="http://schemas.openxmlformats.org/drawingml/2006/main" noGrp="1"/>
          </p:cNvSpPr>
          <p:nvPr/>
        </p:nvSpPr>
        <p:spPr>
          <a:xfrm xmlns:a="http://schemas.openxmlformats.org/drawingml/2006/main">
            <a:off x="6496050" y="36576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C0A6FF"/>
                </a:solidFill>
                <a:latin typeface="Arial"/>
                <a:ea typeface="Arial"/>
                <a:cs typeface="Arial"/>
              </a:defRPr>
            </a:pPr>
            <a:r>
              <a:rPr sz="1875" b="1">
                <a:solidFill>
                  <a:srgbClr val="C0A6FF"/>
                </a:solidFill>
                <a:latin typeface="Arial"/>
                <a:ea typeface="Arial"/>
                <a:cs typeface="Arial"/>
              </a:rPr>
              <a:t>03</a:t>
            </a:r>
          </a:p>
        </p:txBody>
      </p:sp>
      <p:sp>
        <p:nvSpPr>
          <p:cNvPr id="11" name="text-15">
            <a:extLst xmlns:a="http://schemas.openxmlformats.org/drawingml/2006/main">
              <a:ext uri="{FF2B5EF4-FFF2-40B4-BE49-F238E27FC236}">
                <a16:creationId xmlns:a16="http://schemas.microsoft.com/office/drawing/2014/main" id="{02075CE7-273A-4029-8831-62D4F1657EF0}"/>
              </a:ext>
            </a:extLst>
          </p:cNvPr>
          <p:cNvSpPr>
            <a:spLocks xmlns:a="http://schemas.openxmlformats.org/drawingml/2006/main" noGrp="1"/>
          </p:cNvSpPr>
          <p:nvPr/>
        </p:nvSpPr>
        <p:spPr>
          <a:xfrm xmlns:a="http://schemas.openxmlformats.org/drawingml/2006/main">
            <a:off x="7162800" y="3657600"/>
            <a:ext cx="4305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EDF1FB"/>
                </a:solidFill>
                <a:latin typeface="Arial"/>
                <a:ea typeface="Arial"/>
                <a:cs typeface="Arial"/>
              </a:defRPr>
            </a:pPr>
            <a:r>
              <a:rPr sz="2100" b="0">
                <a:solidFill>
                  <a:srgbClr val="EDF1FB"/>
                </a:solidFill>
                <a:latin typeface="Arial"/>
                <a:ea typeface="Arial"/>
                <a:cs typeface="Arial"/>
              </a:rPr>
              <a:t>Explain the problem to the AI</a:t>
            </a:r>
          </a:p>
        </p:txBody>
      </p:sp>
      <p:sp>
        <p:nvSpPr>
          <p:cNvPr id="12" name="text-16">
            <a:extLst xmlns:a="http://schemas.openxmlformats.org/drawingml/2006/main">
              <a:ext uri="{FF2B5EF4-FFF2-40B4-BE49-F238E27FC236}">
                <a16:creationId xmlns:a16="http://schemas.microsoft.com/office/drawing/2014/main" id="{31EEF65A-B832-46C6-A09C-8D4586BF6FD2}"/>
              </a:ext>
            </a:extLst>
          </p:cNvPr>
          <p:cNvSpPr>
            <a:spLocks xmlns:a="http://schemas.openxmlformats.org/drawingml/2006/main" noGrp="1"/>
          </p:cNvSpPr>
          <p:nvPr/>
        </p:nvSpPr>
        <p:spPr>
          <a:xfrm xmlns:a="http://schemas.openxmlformats.org/drawingml/2006/main">
            <a:off x="6496050" y="46482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C0A6FF"/>
                </a:solidFill>
                <a:latin typeface="Arial"/>
                <a:ea typeface="Arial"/>
                <a:cs typeface="Arial"/>
              </a:defRPr>
            </a:pPr>
            <a:r>
              <a:rPr sz="1875" b="1">
                <a:solidFill>
                  <a:srgbClr val="C0A6FF"/>
                </a:solidFill>
                <a:latin typeface="Arial"/>
                <a:ea typeface="Arial"/>
                <a:cs typeface="Arial"/>
              </a:rPr>
              <a:t>04</a:t>
            </a:r>
          </a:p>
        </p:txBody>
      </p:sp>
      <p:sp>
        <p:nvSpPr>
          <p:cNvPr id="13" name="text-17">
            <a:extLst xmlns:a="http://schemas.openxmlformats.org/drawingml/2006/main">
              <a:ext uri="{FF2B5EF4-FFF2-40B4-BE49-F238E27FC236}">
                <a16:creationId xmlns:a16="http://schemas.microsoft.com/office/drawing/2014/main" id="{58C3967B-3070-4C6E-9446-224A3C446AD4}"/>
              </a:ext>
            </a:extLst>
          </p:cNvPr>
          <p:cNvSpPr>
            <a:spLocks xmlns:a="http://schemas.openxmlformats.org/drawingml/2006/main" noGrp="1"/>
          </p:cNvSpPr>
          <p:nvPr/>
        </p:nvSpPr>
        <p:spPr>
          <a:xfrm xmlns:a="http://schemas.openxmlformats.org/drawingml/2006/main">
            <a:off x="7162800" y="4648200"/>
            <a:ext cx="4305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EDF1FB"/>
                </a:solidFill>
                <a:latin typeface="Arial"/>
                <a:ea typeface="Arial"/>
                <a:cs typeface="Arial"/>
              </a:defRPr>
            </a:pPr>
            <a:r>
              <a:rPr sz="2100" b="0">
                <a:solidFill>
                  <a:srgbClr val="EDF1FB"/>
                </a:solidFill>
                <a:latin typeface="Arial"/>
                <a:ea typeface="Arial"/>
                <a:cs typeface="Arial"/>
              </a:rPr>
              <a:t>Check everything again after the edit</a:t>
            </a:r>
          </a:p>
        </p:txBody>
      </p:sp>
    </p:spTree>
    <p:extLst>
      <p:ext uri="{BB962C8B-B14F-4D97-AF65-F5344CB8AC3E}">
        <p14:creationId xmlns:p14="http://schemas.microsoft.com/office/powerpoint/2010/main" val="1974661523"/>
      </p:ext>
    </p:extLst>
  </p:cSld>
</p:sld>
</file>

<file path=ppt/slides/slide3.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3" name="text-18">
            <a:extLst xmlns:a="http://schemas.openxmlformats.org/drawingml/2006/main">
              <a:ext uri="{FF2B5EF4-FFF2-40B4-BE49-F238E27FC236}">
                <a16:creationId xmlns:a16="http://schemas.microsoft.com/office/drawing/2014/main" id="{24585471-9656-41BC-811B-AE068FB282F2}"/>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EDF1FB"/>
                </a:solidFill>
                <a:latin typeface="Arial"/>
                <a:ea typeface="Arial"/>
                <a:cs typeface="Arial"/>
              </a:defRPr>
            </a:pPr>
            <a:r>
              <a:rPr sz="3300" b="1">
                <a:solidFill>
                  <a:srgbClr val="EDF1FB"/>
                </a:solidFill>
                <a:latin typeface="Arial"/>
                <a:ea typeface="Arial"/>
                <a:cs typeface="Arial"/>
              </a:rPr>
              <a:t>A checklist you approve once per run</a:t>
            </a:r>
          </a:p>
        </p:txBody>
      </p:sp>
      <p:sp>
        <p:nvSpPr>
          <p:cNvPr id="2" name="text-19">
            <a:extLst xmlns:a="http://schemas.openxmlformats.org/drawingml/2006/main">
              <a:ext uri="{FF2B5EF4-FFF2-40B4-BE49-F238E27FC236}">
                <a16:creationId xmlns:a16="http://schemas.microsoft.com/office/drawing/2014/main" id="{C6F8B035-5F55-4D36-9132-83820F0F5B2C}"/>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A7B5D1"/>
                </a:solidFill>
                <a:latin typeface="Georgia"/>
                <a:ea typeface="Georgia"/>
                <a:cs typeface="Georgia"/>
              </a:defRPr>
            </a:pPr>
            <a:r>
              <a:rPr sz="1350" b="0">
                <a:solidFill>
                  <a:srgbClr val="A7B5D1"/>
                </a:solidFill>
                <a:latin typeface="Georgia"/>
                <a:ea typeface="Georgia"/>
                <a:cs typeface="Georgia"/>
              </a:rPr>
              <a:t>Ming</a:t>
            </a:r>
          </a:p>
        </p:txBody>
      </p:sp>
      <p:sp>
        <p:nvSpPr>
          <p:cNvPr id="3" name="text-20">
            <a:extLst xmlns:a="http://schemas.openxmlformats.org/drawingml/2006/main">
              <a:ext uri="{FF2B5EF4-FFF2-40B4-BE49-F238E27FC236}">
                <a16:creationId xmlns:a16="http://schemas.microsoft.com/office/drawing/2014/main" id="{6F0130FC-1D2A-488F-9692-B09C706A183F}"/>
              </a:ext>
            </a:extLst>
          </p:cNvPr>
          <p:cNvSpPr>
            <a:spLocks xmlns:a="http://schemas.openxmlformats.org/drawingml/2006/main" noGrp="1"/>
          </p:cNvSpPr>
          <p:nvPr/>
        </p:nvSpPr>
        <p:spPr>
          <a:xfrm xmlns:a="http://schemas.openxmlformats.org/drawingml/2006/main">
            <a:off x="10763250" y="63817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A7B5D1"/>
                </a:solidFill>
                <a:latin typeface="Arial"/>
                <a:ea typeface="Arial"/>
                <a:cs typeface="Arial"/>
              </a:defRPr>
            </a:pPr>
            <a:r>
              <a:rPr sz="1200" b="0">
                <a:solidFill>
                  <a:srgbClr val="A7B5D1"/>
                </a:solidFill>
                <a:latin typeface="Arial"/>
                <a:ea typeface="Arial"/>
                <a:cs typeface="Arial"/>
              </a:rPr>
              <a:t>03 / 08</a:t>
            </a:r>
          </a:p>
        </p:txBody>
      </p:sp>
      <p:sp>
        <p:nvSpPr>
          <p:cNvPr id="4" name="text-21">
            <a:extLst xmlns:a="http://schemas.openxmlformats.org/drawingml/2006/main">
              <a:ext uri="{FF2B5EF4-FFF2-40B4-BE49-F238E27FC236}">
                <a16:creationId xmlns:a16="http://schemas.microsoft.com/office/drawing/2014/main" id="{4D164786-327C-45F3-B655-EAB3BC69E2A6}"/>
              </a:ext>
            </a:extLst>
          </p:cNvPr>
          <p:cNvSpPr>
            <a:spLocks xmlns:a="http://schemas.openxmlformats.org/drawingml/2006/main" noGrp="1"/>
          </p:cNvSpPr>
          <p:nvPr/>
        </p:nvSpPr>
        <p:spPr>
          <a:xfrm xmlns:a="http://schemas.openxmlformats.org/drawingml/2006/main">
            <a:off x="609600" y="1476375"/>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94B8FF"/>
                </a:solidFill>
                <a:latin typeface="Arial"/>
                <a:ea typeface="Arial"/>
                <a:cs typeface="Arial"/>
              </a:defRPr>
            </a:pPr>
            <a:r>
              <a:rPr sz="2175" b="1">
                <a:solidFill>
                  <a:srgbClr val="94B8FF"/>
                </a:solidFill>
                <a:latin typeface="Arial"/>
                <a:ea typeface="Arial"/>
                <a:cs typeface="Arial"/>
              </a:rPr>
              <a:t>Add app</a:t>
            </a:r>
          </a:p>
        </p:txBody>
      </p:sp>
      <p:sp>
        <p:nvSpPr>
          <p:cNvPr id="5" name="text-22">
            <a:extLst xmlns:a="http://schemas.openxmlformats.org/drawingml/2006/main">
              <a:ext uri="{FF2B5EF4-FFF2-40B4-BE49-F238E27FC236}">
                <a16:creationId xmlns:a16="http://schemas.microsoft.com/office/drawing/2014/main" id="{A1B7115F-43FD-43F7-90DC-BDD0CC951E44}"/>
              </a:ext>
            </a:extLst>
          </p:cNvPr>
          <p:cNvSpPr>
            <a:spLocks xmlns:a="http://schemas.openxmlformats.org/drawingml/2006/main" noGrp="1"/>
          </p:cNvSpPr>
          <p:nvPr/>
        </p:nvSpPr>
        <p:spPr>
          <a:xfrm xmlns:a="http://schemas.openxmlformats.org/drawingml/2006/main">
            <a:off x="609600" y="1876425"/>
            <a:ext cx="3400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Open your HTML, static ZIP</a:t>
            </a:r>
          </a:p>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or public GitHub website.</a:t>
            </a:r>
          </a:p>
        </p:txBody>
      </p:sp>
      <p:sp>
        <p:nvSpPr>
          <p:cNvPr id="6" name="text-23">
            <a:extLst xmlns:a="http://schemas.openxmlformats.org/drawingml/2006/main">
              <a:ext uri="{FF2B5EF4-FFF2-40B4-BE49-F238E27FC236}">
                <a16:creationId xmlns:a16="http://schemas.microsoft.com/office/drawing/2014/main" id="{66558CDE-2B0F-468F-B9BD-DD50DA96BAF7}"/>
              </a:ext>
            </a:extLst>
          </p:cNvPr>
          <p:cNvSpPr>
            <a:spLocks xmlns:a="http://schemas.openxmlformats.org/drawingml/2006/main" noGrp="1"/>
          </p:cNvSpPr>
          <p:nvPr/>
        </p:nvSpPr>
        <p:spPr>
          <a:xfrm xmlns:a="http://schemas.openxmlformats.org/drawingml/2006/main">
            <a:off x="609600" y="259080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94B8FF"/>
                </a:solidFill>
                <a:latin typeface="Arial"/>
                <a:ea typeface="Arial"/>
                <a:cs typeface="Arial"/>
              </a:defRPr>
            </a:pPr>
            <a:r>
              <a:rPr sz="2175" b="1">
                <a:solidFill>
                  <a:srgbClr val="94B8FF"/>
                </a:solidFill>
                <a:latin typeface="Arial"/>
                <a:ea typeface="Arial"/>
                <a:cs typeface="Arial"/>
              </a:rPr>
              <a:t>Describe</a:t>
            </a:r>
          </a:p>
        </p:txBody>
      </p:sp>
      <p:sp>
        <p:nvSpPr>
          <p:cNvPr id="7" name="text-24">
            <a:extLst xmlns:a="http://schemas.openxmlformats.org/drawingml/2006/main">
              <a:ext uri="{FF2B5EF4-FFF2-40B4-BE49-F238E27FC236}">
                <a16:creationId xmlns:a16="http://schemas.microsoft.com/office/drawing/2014/main" id="{79F9A545-9B55-4900-955B-697E8A24B577}"/>
              </a:ext>
            </a:extLst>
          </p:cNvPr>
          <p:cNvSpPr>
            <a:spLocks xmlns:a="http://schemas.openxmlformats.org/drawingml/2006/main" noGrp="1"/>
          </p:cNvSpPr>
          <p:nvPr/>
        </p:nvSpPr>
        <p:spPr>
          <a:xfrm xmlns:a="http://schemas.openxmlformats.org/drawingml/2006/main">
            <a:off x="609600" y="2990850"/>
            <a:ext cx="3400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Say what should work.</a:t>
            </a:r>
          </a:p>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Ask AI for a checklist.</a:t>
            </a:r>
          </a:p>
        </p:txBody>
      </p:sp>
      <p:sp>
        <p:nvSpPr>
          <p:cNvPr id="8" name="text-25">
            <a:extLst xmlns:a="http://schemas.openxmlformats.org/drawingml/2006/main">
              <a:ext uri="{FF2B5EF4-FFF2-40B4-BE49-F238E27FC236}">
                <a16:creationId xmlns:a16="http://schemas.microsoft.com/office/drawing/2014/main" id="{7C865119-F539-4AD8-9E99-FDEB26CD3D01}"/>
              </a:ext>
            </a:extLst>
          </p:cNvPr>
          <p:cNvSpPr>
            <a:spLocks xmlns:a="http://schemas.openxmlformats.org/drawingml/2006/main" noGrp="1"/>
          </p:cNvSpPr>
          <p:nvPr/>
        </p:nvSpPr>
        <p:spPr>
          <a:xfrm xmlns:a="http://schemas.openxmlformats.org/drawingml/2006/main">
            <a:off x="609600" y="3705225"/>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94B8FF"/>
                </a:solidFill>
                <a:latin typeface="Arial"/>
                <a:ea typeface="Arial"/>
                <a:cs typeface="Arial"/>
              </a:defRPr>
            </a:pPr>
            <a:r>
              <a:rPr sz="2175" b="1">
                <a:solidFill>
                  <a:srgbClr val="94B8FF"/>
                </a:solidFill>
                <a:latin typeface="Arial"/>
                <a:ea typeface="Arial"/>
                <a:cs typeface="Arial"/>
              </a:rPr>
              <a:t>Review</a:t>
            </a:r>
          </a:p>
        </p:txBody>
      </p:sp>
      <p:sp>
        <p:nvSpPr>
          <p:cNvPr id="9" name="text-26">
            <a:extLst xmlns:a="http://schemas.openxmlformats.org/drawingml/2006/main">
              <a:ext uri="{FF2B5EF4-FFF2-40B4-BE49-F238E27FC236}">
                <a16:creationId xmlns:a16="http://schemas.microsoft.com/office/drawing/2014/main" id="{E9E3F575-D980-4A08-A785-43F935169E4B}"/>
              </a:ext>
            </a:extLst>
          </p:cNvPr>
          <p:cNvSpPr>
            <a:spLocks xmlns:a="http://schemas.openxmlformats.org/drawingml/2006/main" noGrp="1"/>
          </p:cNvSpPr>
          <p:nvPr/>
        </p:nvSpPr>
        <p:spPr>
          <a:xfrm xmlns:a="http://schemas.openxmlformats.org/drawingml/2006/main">
            <a:off x="609600" y="4105275"/>
            <a:ext cx="3400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Read the actions and outcomes.</a:t>
            </a:r>
          </a:p>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Choose Approve and check.</a:t>
            </a:r>
          </a:p>
        </p:txBody>
      </p:sp>
      <p:sp>
        <p:nvSpPr>
          <p:cNvPr id="10" name="text-27">
            <a:extLst xmlns:a="http://schemas.openxmlformats.org/drawingml/2006/main">
              <a:ext uri="{FF2B5EF4-FFF2-40B4-BE49-F238E27FC236}">
                <a16:creationId xmlns:a16="http://schemas.microsoft.com/office/drawing/2014/main" id="{66841827-F707-43EE-82F8-3D06D5E0A79C}"/>
              </a:ext>
            </a:extLst>
          </p:cNvPr>
          <p:cNvSpPr>
            <a:spLocks xmlns:a="http://schemas.openxmlformats.org/drawingml/2006/main" noGrp="1"/>
          </p:cNvSpPr>
          <p:nvPr/>
        </p:nvSpPr>
        <p:spPr>
          <a:xfrm xmlns:a="http://schemas.openxmlformats.org/drawingml/2006/main">
            <a:off x="609600" y="481965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94B8FF"/>
                </a:solidFill>
                <a:latin typeface="Arial"/>
                <a:ea typeface="Arial"/>
                <a:cs typeface="Arial"/>
              </a:defRPr>
            </a:pPr>
            <a:r>
              <a:rPr sz="2175" b="1">
                <a:solidFill>
                  <a:srgbClr val="94B8FF"/>
                </a:solidFill>
                <a:latin typeface="Arial"/>
                <a:ea typeface="Arial"/>
                <a:cs typeface="Arial"/>
              </a:rPr>
              <a:t>Results</a:t>
            </a:r>
          </a:p>
        </p:txBody>
      </p:sp>
      <p:sp>
        <p:nvSpPr>
          <p:cNvPr id="11" name="text-28">
            <a:extLst xmlns:a="http://schemas.openxmlformats.org/drawingml/2006/main">
              <a:ext uri="{FF2B5EF4-FFF2-40B4-BE49-F238E27FC236}">
                <a16:creationId xmlns:a16="http://schemas.microsoft.com/office/drawing/2014/main" id="{25C3F609-8C32-4910-AC6D-780133727CB0}"/>
              </a:ext>
            </a:extLst>
          </p:cNvPr>
          <p:cNvSpPr>
            <a:spLocks xmlns:a="http://schemas.openxmlformats.org/drawingml/2006/main" noGrp="1"/>
          </p:cNvSpPr>
          <p:nvPr/>
        </p:nvSpPr>
        <p:spPr>
          <a:xfrm xmlns:a="http://schemas.openxmlformats.org/drawingml/2006/main">
            <a:off x="609600" y="5219700"/>
            <a:ext cx="3400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See the observed failure</a:t>
            </a:r>
          </a:p>
          <a:p xmlns:a="http://schemas.openxmlformats.org/drawingml/2006/main">
            <a:pPr algn="l">
              <a:defRPr sz="1725" b="0">
                <a:solidFill>
                  <a:srgbClr val="EDF1FB"/>
                </a:solidFill>
                <a:latin typeface="Arial"/>
                <a:ea typeface="Arial"/>
                <a:cs typeface="Arial"/>
              </a:defRPr>
            </a:pPr>
            <a:r>
              <a:rPr sz="1725" b="0">
                <a:solidFill>
                  <a:srgbClr val="EDF1FB"/>
                </a:solidFill>
                <a:latin typeface="Arial"/>
                <a:ea typeface="Arial"/>
                <a:cs typeface="Arial"/>
              </a:rPr>
              <a:t>and its recorded evidence.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19509b887dc4154"/>
          <a:stretch xmlns:a="http://schemas.openxmlformats.org/drawingml/2006/main"/>
        </p:blipFill>
        <p:spPr>
          <a:xfrm xmlns:a="http://schemas.openxmlformats.org/drawingml/2006/main">
            <a:off x="4625340" y="1352550"/>
            <a:ext cx="6694170" cy="4781550"/>
          </a:xfrm>
          <a:prstGeom xmlns:a="http://schemas.openxmlformats.org/drawingml/2006/main" prst="rect">
            <a:avLst/>
          </a:prstGeom>
        </p:spPr>
      </p:pic>
    </p:spTree>
    <p:extLst>
      <p:ext uri="{BB962C8B-B14F-4D97-AF65-F5344CB8AC3E}">
        <p14:creationId xmlns:p14="http://schemas.microsoft.com/office/powerpoint/2010/main" val="1074413426"/>
      </p:ext>
    </p:extLst>
  </p:cSld>
</p:sld>
</file>

<file path=ppt/slides/slide4.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2" name="text-29">
            <a:extLst xmlns:a="http://schemas.openxmlformats.org/drawingml/2006/main">
              <a:ext uri="{FF2B5EF4-FFF2-40B4-BE49-F238E27FC236}">
                <a16:creationId xmlns:a16="http://schemas.microsoft.com/office/drawing/2014/main" id="{885B8947-D6A9-455E-B2B6-844AEDAFC22D}"/>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EDF1FB"/>
                </a:solidFill>
                <a:latin typeface="Arial"/>
                <a:ea typeface="Arial"/>
                <a:cs typeface="Arial"/>
              </a:defRPr>
            </a:pPr>
            <a:r>
              <a:rPr sz="3300" b="1">
                <a:solidFill>
                  <a:srgbClr val="EDF1FB"/>
                </a:solidFill>
                <a:latin typeface="Arial"/>
                <a:ea typeface="Arial"/>
                <a:cs typeface="Arial"/>
              </a:rPr>
              <a:t>A real failure, then a passing revision</a:t>
            </a:r>
          </a:p>
        </p:txBody>
      </p:sp>
      <p:sp>
        <p:nvSpPr>
          <p:cNvPr id="2" name="text-30">
            <a:extLst xmlns:a="http://schemas.openxmlformats.org/drawingml/2006/main">
              <a:ext uri="{FF2B5EF4-FFF2-40B4-BE49-F238E27FC236}">
                <a16:creationId xmlns:a16="http://schemas.microsoft.com/office/drawing/2014/main" id="{5E22D063-7B12-43EA-9572-668A8DC3397E}"/>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A7B5D1"/>
                </a:solidFill>
                <a:latin typeface="Georgia"/>
                <a:ea typeface="Georgia"/>
                <a:cs typeface="Georgia"/>
              </a:defRPr>
            </a:pPr>
            <a:r>
              <a:rPr sz="1350" b="0">
                <a:solidFill>
                  <a:srgbClr val="A7B5D1"/>
                </a:solidFill>
                <a:latin typeface="Georgia"/>
                <a:ea typeface="Georgia"/>
                <a:cs typeface="Georgia"/>
              </a:rPr>
              <a:t>Ming</a:t>
            </a:r>
          </a:p>
        </p:txBody>
      </p:sp>
      <p:sp>
        <p:nvSpPr>
          <p:cNvPr id="3" name="text-31">
            <a:extLst xmlns:a="http://schemas.openxmlformats.org/drawingml/2006/main">
              <a:ext uri="{FF2B5EF4-FFF2-40B4-BE49-F238E27FC236}">
                <a16:creationId xmlns:a16="http://schemas.microsoft.com/office/drawing/2014/main" id="{D5EA379F-869D-476D-B747-24F091AEC327}"/>
              </a:ext>
            </a:extLst>
          </p:cNvPr>
          <p:cNvSpPr>
            <a:spLocks xmlns:a="http://schemas.openxmlformats.org/drawingml/2006/main" noGrp="1"/>
          </p:cNvSpPr>
          <p:nvPr/>
        </p:nvSpPr>
        <p:spPr>
          <a:xfrm xmlns:a="http://schemas.openxmlformats.org/drawingml/2006/main">
            <a:off x="10763250" y="63817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A7B5D1"/>
                </a:solidFill>
                <a:latin typeface="Arial"/>
                <a:ea typeface="Arial"/>
                <a:cs typeface="Arial"/>
              </a:defRPr>
            </a:pPr>
            <a:r>
              <a:rPr sz="1200" b="0">
                <a:solidFill>
                  <a:srgbClr val="A7B5D1"/>
                </a:solidFill>
                <a:latin typeface="Arial"/>
                <a:ea typeface="Arial"/>
                <a:cs typeface="Arial"/>
              </a:rPr>
              <a:t>04 / 08</a:t>
            </a:r>
          </a:p>
        </p:txBody>
      </p:sp>
      <p:sp>
        <p:nvSpPr>
          <p:cNvPr id="4" name="text-32">
            <a:extLst xmlns:a="http://schemas.openxmlformats.org/drawingml/2006/main">
              <a:ext uri="{FF2B5EF4-FFF2-40B4-BE49-F238E27FC236}">
                <a16:creationId xmlns:a16="http://schemas.microsoft.com/office/drawing/2014/main" id="{2BF607D9-A9E3-4B12-8191-9F71C15506A4}"/>
              </a:ext>
            </a:extLst>
          </p:cNvPr>
          <p:cNvSpPr>
            <a:spLocks xmlns:a="http://schemas.openxmlformats.org/drawingml/2006/main" noGrp="1"/>
          </p:cNvSpPr>
          <p:nvPr/>
        </p:nvSpPr>
        <p:spPr>
          <a:xfrm xmlns:a="http://schemas.openxmlformats.org/drawingml/2006/main">
            <a:off x="609600" y="1276350"/>
            <a:ext cx="433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FFABB2"/>
                </a:solidFill>
                <a:latin typeface="Arial"/>
                <a:ea typeface="Arial"/>
                <a:cs typeface="Arial"/>
              </a:defRPr>
            </a:pPr>
            <a:r>
              <a:rPr sz="1950" b="1">
                <a:solidFill>
                  <a:srgbClr val="FFABB2"/>
                </a:solidFill>
                <a:latin typeface="Arial"/>
                <a:ea typeface="Arial"/>
                <a:cs typeface="Arial"/>
              </a:rPr>
              <a:t>After reload: task lost</a:t>
            </a:r>
          </a:p>
        </p:txBody>
      </p:sp>
      <p:sp>
        <p:nvSpPr>
          <p:cNvPr id="5" name="text-33">
            <a:extLst xmlns:a="http://schemas.openxmlformats.org/drawingml/2006/main">
              <a:ext uri="{FF2B5EF4-FFF2-40B4-BE49-F238E27FC236}">
                <a16:creationId xmlns:a16="http://schemas.microsoft.com/office/drawing/2014/main" id="{511B94A4-99D1-4D09-B1EF-E89E410F7F80}"/>
              </a:ext>
            </a:extLst>
          </p:cNvPr>
          <p:cNvSpPr>
            <a:spLocks xmlns:a="http://schemas.openxmlformats.org/drawingml/2006/main" noGrp="1"/>
          </p:cNvSpPr>
          <p:nvPr/>
        </p:nvSpPr>
        <p:spPr>
          <a:xfrm xmlns:a="http://schemas.openxmlformats.org/drawingml/2006/main">
            <a:off x="4619625" y="12763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78E3B7"/>
                </a:solidFill>
                <a:latin typeface="Arial"/>
                <a:ea typeface="Arial"/>
                <a:cs typeface="Arial"/>
              </a:defRPr>
            </a:pPr>
            <a:r>
              <a:rPr sz="1950" b="1">
                <a:solidFill>
                  <a:srgbClr val="78E3B7"/>
                </a:solidFill>
                <a:latin typeface="Arial"/>
                <a:ea typeface="Arial"/>
                <a:cs typeface="Arial"/>
              </a:rPr>
              <a:t>After correction: task remains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8c35f8f18724023"/>
          <a:stretch xmlns:a="http://schemas.openxmlformats.org/drawingml/2006/main"/>
        </p:blipFill>
        <p:spPr>
          <a:xfrm xmlns:a="http://schemas.openxmlformats.org/drawingml/2006/main">
            <a:off x="609600" y="1794089"/>
            <a:ext cx="3495675" cy="3831798"/>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9850ed3357344cc"/>
          <a:stretch xmlns:a="http://schemas.openxmlformats.org/drawingml/2006/main"/>
        </p:blipFill>
        <p:spPr>
          <a:xfrm xmlns:a="http://schemas.openxmlformats.org/drawingml/2006/main">
            <a:off x="4619625" y="2044888"/>
            <a:ext cx="3495675" cy="3330199"/>
          </a:xfrm>
          <a:prstGeom xmlns:a="http://schemas.openxmlformats.org/drawingml/2006/main" prst="rect">
            <a:avLst/>
          </a:prstGeom>
        </p:spPr>
      </p:pic>
      <p:sp>
        <p:nvSpPr>
          <p:cNvPr id="8" name="text-34">
            <a:extLst xmlns:a="http://schemas.openxmlformats.org/drawingml/2006/main">
              <a:ext uri="{FF2B5EF4-FFF2-40B4-BE49-F238E27FC236}">
                <a16:creationId xmlns:a16="http://schemas.microsoft.com/office/drawing/2014/main" id="{42B010AF-85B0-455B-A0CC-610F609C7E8B}"/>
              </a:ext>
            </a:extLst>
          </p:cNvPr>
          <p:cNvSpPr>
            <a:spLocks xmlns:a="http://schemas.openxmlformats.org/drawingml/2006/main" noGrp="1"/>
          </p:cNvSpPr>
          <p:nvPr/>
        </p:nvSpPr>
        <p:spPr>
          <a:xfrm xmlns:a="http://schemas.openxmlformats.org/drawingml/2006/main">
            <a:off x="8753475" y="1714500"/>
            <a:ext cx="2809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1">
                <a:solidFill>
                  <a:srgbClr val="94B8FF"/>
                </a:solidFill>
                <a:latin typeface="Arial"/>
                <a:ea typeface="Arial"/>
                <a:cs typeface="Arial"/>
              </a:defRPr>
            </a:pPr>
            <a:r>
              <a:rPr sz="7800" b="1">
                <a:solidFill>
                  <a:srgbClr val="94B8FF"/>
                </a:solidFill>
                <a:latin typeface="Arial"/>
                <a:ea typeface="Arial"/>
                <a:cs typeface="Arial"/>
              </a:rPr>
              <a:t>9</a:t>
            </a:r>
          </a:p>
        </p:txBody>
      </p:sp>
      <p:sp>
        <p:nvSpPr>
          <p:cNvPr id="9" name="text-35">
            <a:extLst xmlns:a="http://schemas.openxmlformats.org/drawingml/2006/main">
              <a:ext uri="{FF2B5EF4-FFF2-40B4-BE49-F238E27FC236}">
                <a16:creationId xmlns:a16="http://schemas.microsoft.com/office/drawing/2014/main" id="{D788E7F7-B13F-4087-A807-9EB4637ABA64}"/>
              </a:ext>
            </a:extLst>
          </p:cNvPr>
          <p:cNvSpPr>
            <a:spLocks xmlns:a="http://schemas.openxmlformats.org/drawingml/2006/main" noGrp="1"/>
          </p:cNvSpPr>
          <p:nvPr/>
        </p:nvSpPr>
        <p:spPr>
          <a:xfrm xmlns:a="http://schemas.openxmlformats.org/drawingml/2006/main">
            <a:off x="8782050" y="288607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EDF1FB"/>
                </a:solidFill>
                <a:latin typeface="Arial"/>
                <a:ea typeface="Arial"/>
                <a:cs typeface="Arial"/>
              </a:defRPr>
            </a:pPr>
            <a:r>
              <a:rPr sz="2175" b="1">
                <a:solidFill>
                  <a:srgbClr val="EDF1FB"/>
                </a:solidFill>
                <a:latin typeface="Arial"/>
                <a:ea typeface="Arial"/>
                <a:cs typeface="Arial"/>
              </a:rPr>
              <a:t>unchanged steps</a:t>
            </a:r>
          </a:p>
        </p:txBody>
      </p:sp>
      <p:sp>
        <p:nvSpPr>
          <p:cNvPr id="10" name="text-36">
            <a:extLst xmlns:a="http://schemas.openxmlformats.org/drawingml/2006/main">
              <a:ext uri="{FF2B5EF4-FFF2-40B4-BE49-F238E27FC236}">
                <a16:creationId xmlns:a16="http://schemas.microsoft.com/office/drawing/2014/main" id="{38AEDDC4-8E90-41F1-8065-53A70F3FF85D}"/>
              </a:ext>
            </a:extLst>
          </p:cNvPr>
          <p:cNvSpPr>
            <a:spLocks xmlns:a="http://schemas.openxmlformats.org/drawingml/2006/main" noGrp="1"/>
          </p:cNvSpPr>
          <p:nvPr/>
        </p:nvSpPr>
        <p:spPr>
          <a:xfrm xmlns:a="http://schemas.openxmlformats.org/drawingml/2006/main">
            <a:off x="8782050" y="3600450"/>
            <a:ext cx="27813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EDF1FB"/>
                </a:solidFill>
                <a:latin typeface="Arial"/>
                <a:ea typeface="Arial"/>
                <a:cs typeface="Arial"/>
              </a:defRPr>
            </a:pPr>
            <a:r>
              <a:rPr sz="1875" b="0">
                <a:solidFill>
                  <a:srgbClr val="EDF1FB"/>
                </a:solidFill>
                <a:latin typeface="Arial"/>
                <a:ea typeface="Arial"/>
                <a:cs typeface="Arial"/>
              </a:rPr>
              <a:t>One real AI draft.</a:t>
            </a:r>
          </a:p>
          <a:p xmlns:a="http://schemas.openxmlformats.org/drawingml/2006/main">
            <a:pPr algn="l">
              <a:defRPr sz="1875" b="0">
                <a:solidFill>
                  <a:srgbClr val="EDF1FB"/>
                </a:solidFill>
                <a:latin typeface="Arial"/>
                <a:ea typeface="Arial"/>
                <a:cs typeface="Arial"/>
              </a:defRPr>
            </a:pPr>
            <a:r>
              <a:rPr sz="1875" b="0">
                <a:solidFill>
                  <a:srgbClr val="EDF1FB"/>
                </a:solidFill>
                <a:latin typeface="Arial"/>
                <a:ea typeface="Arial"/>
                <a:cs typeface="Arial"/>
              </a:rPr>
              <a:t>Two source versions.</a:t>
            </a:r>
          </a:p>
          <a:p xmlns:a="http://schemas.openxmlformats.org/drawingml/2006/main">
            <a:pPr algn="l">
              <a:defRPr sz="1875" b="0">
                <a:solidFill>
                  <a:srgbClr val="EDF1FB"/>
                </a:solidFill>
                <a:latin typeface="Arial"/>
                <a:ea typeface="Arial"/>
                <a:cs typeface="Arial"/>
              </a:defRPr>
            </a:pPr>
            <a:r>
              <a:rPr sz="1875" b="0">
                <a:solidFill>
                  <a:srgbClr val="EDF1FB"/>
                </a:solidFill>
                <a:latin typeface="Arial"/>
                <a:ea typeface="Arial"/>
                <a:cs typeface="Arial"/>
              </a:rPr>
              <a:t>Original failure preserved.</a:t>
            </a:r>
          </a:p>
        </p:txBody>
      </p:sp>
      <p:sp>
        <p:nvSpPr>
          <p:cNvPr id="11" name="text-37">
            <a:extLst xmlns:a="http://schemas.openxmlformats.org/drawingml/2006/main">
              <a:ext uri="{FF2B5EF4-FFF2-40B4-BE49-F238E27FC236}">
                <a16:creationId xmlns:a16="http://schemas.microsoft.com/office/drawing/2014/main" id="{6F48A399-8983-4718-AFD7-7CFE6688592C}"/>
              </a:ext>
            </a:extLst>
          </p:cNvPr>
          <p:cNvSpPr>
            <a:spLocks xmlns:a="http://schemas.openxmlformats.org/drawingml/2006/main" noGrp="1"/>
          </p:cNvSpPr>
          <p:nvPr/>
        </p:nvSpPr>
        <p:spPr>
          <a:xfrm xmlns:a="http://schemas.openxmlformats.org/drawingml/2006/main">
            <a:off x="609600" y="58483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A7B5D1"/>
                </a:solidFill>
                <a:latin typeface="Arial"/>
                <a:ea typeface="Arial"/>
                <a:cs typeface="Arial"/>
              </a:defRPr>
            </a:pPr>
            <a:r>
              <a:rPr sz="1650" b="0">
                <a:solidFill>
                  <a:srgbClr val="A7B5D1"/>
                </a:solidFill>
                <a:latin typeface="Arial"/>
                <a:ea typeface="Arial"/>
                <a:cs typeface="Arial"/>
              </a:rPr>
              <a:t>Actual DOM captures. The corrected sample was prepared in advance.</a:t>
            </a:r>
          </a:p>
        </p:txBody>
      </p:sp>
    </p:spTree>
    <p:extLst>
      <p:ext uri="{BB962C8B-B14F-4D97-AF65-F5344CB8AC3E}">
        <p14:creationId xmlns:p14="http://schemas.microsoft.com/office/powerpoint/2010/main" val="369867591"/>
      </p:ext>
    </p:extLst>
  </p:cSld>
</p:sld>
</file>

<file path=ppt/slides/slide5.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text-38">
            <a:extLst xmlns:a="http://schemas.openxmlformats.org/drawingml/2006/main">
              <a:ext uri="{FF2B5EF4-FFF2-40B4-BE49-F238E27FC236}">
                <a16:creationId xmlns:a16="http://schemas.microsoft.com/office/drawing/2014/main" id="{A8B54163-EFBC-4514-B88B-F378A8BCF8F1}"/>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EDF1FB"/>
                </a:solidFill>
                <a:latin typeface="Arial"/>
                <a:ea typeface="Arial"/>
                <a:cs typeface="Arial"/>
              </a:defRPr>
            </a:pPr>
            <a:r>
              <a:rPr sz="3300" b="1">
                <a:solidFill>
                  <a:srgbClr val="EDF1FB"/>
                </a:solidFill>
                <a:latin typeface="Arial"/>
                <a:ea typeface="Arial"/>
                <a:cs typeface="Arial"/>
              </a:rPr>
              <a:t>Evidence your coding AI can act on</a:t>
            </a:r>
          </a:p>
        </p:txBody>
      </p:sp>
      <p:sp>
        <p:nvSpPr>
          <p:cNvPr id="2" name="text-39">
            <a:extLst xmlns:a="http://schemas.openxmlformats.org/drawingml/2006/main">
              <a:ext uri="{FF2B5EF4-FFF2-40B4-BE49-F238E27FC236}">
                <a16:creationId xmlns:a16="http://schemas.microsoft.com/office/drawing/2014/main" id="{B363FB7F-8F7A-4C30-8269-660F36F8FB0C}"/>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A7B5D1"/>
                </a:solidFill>
                <a:latin typeface="Georgia"/>
                <a:ea typeface="Georgia"/>
                <a:cs typeface="Georgia"/>
              </a:defRPr>
            </a:pPr>
            <a:r>
              <a:rPr sz="1350" b="0">
                <a:solidFill>
                  <a:srgbClr val="A7B5D1"/>
                </a:solidFill>
                <a:latin typeface="Georgia"/>
                <a:ea typeface="Georgia"/>
                <a:cs typeface="Georgia"/>
              </a:rPr>
              <a:t>Ming</a:t>
            </a:r>
          </a:p>
        </p:txBody>
      </p:sp>
      <p:sp>
        <p:nvSpPr>
          <p:cNvPr id="3" name="text-40">
            <a:extLst xmlns:a="http://schemas.openxmlformats.org/drawingml/2006/main">
              <a:ext uri="{FF2B5EF4-FFF2-40B4-BE49-F238E27FC236}">
                <a16:creationId xmlns:a16="http://schemas.microsoft.com/office/drawing/2014/main" id="{1A563B90-93B1-471C-B5BF-66008D976AB6}"/>
              </a:ext>
            </a:extLst>
          </p:cNvPr>
          <p:cNvSpPr>
            <a:spLocks xmlns:a="http://schemas.openxmlformats.org/drawingml/2006/main" noGrp="1"/>
          </p:cNvSpPr>
          <p:nvPr/>
        </p:nvSpPr>
        <p:spPr>
          <a:xfrm xmlns:a="http://schemas.openxmlformats.org/drawingml/2006/main">
            <a:off x="10763250" y="63817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A7B5D1"/>
                </a:solidFill>
                <a:latin typeface="Arial"/>
                <a:ea typeface="Arial"/>
                <a:cs typeface="Arial"/>
              </a:defRPr>
            </a:pPr>
            <a:r>
              <a:rPr sz="1200" b="0">
                <a:solidFill>
                  <a:srgbClr val="A7B5D1"/>
                </a:solidFill>
                <a:latin typeface="Arial"/>
                <a:ea typeface="Arial"/>
                <a:cs typeface="Arial"/>
              </a:rPr>
              <a:t>05 / 08</a:t>
            </a:r>
          </a:p>
        </p:txBody>
      </p:sp>
      <p:sp>
        <p:nvSpPr>
          <p:cNvPr id="4" name="text-41">
            <a:extLst xmlns:a="http://schemas.openxmlformats.org/drawingml/2006/main">
              <a:ext uri="{FF2B5EF4-FFF2-40B4-BE49-F238E27FC236}">
                <a16:creationId xmlns:a16="http://schemas.microsoft.com/office/drawing/2014/main" id="{2F21E7F2-CC60-45BE-919C-F3D0101A4286}"/>
              </a:ext>
            </a:extLst>
          </p:cNvPr>
          <p:cNvSpPr>
            <a:spLocks xmlns:a="http://schemas.openxmlformats.org/drawingml/2006/main" noGrp="1"/>
          </p:cNvSpPr>
          <p:nvPr/>
        </p:nvSpPr>
        <p:spPr>
          <a:xfrm xmlns:a="http://schemas.openxmlformats.org/drawingml/2006/main">
            <a:off x="609600" y="1457325"/>
            <a:ext cx="6238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94B8FF"/>
                </a:solidFill>
                <a:latin typeface="Arial"/>
                <a:ea typeface="Arial"/>
                <a:cs typeface="Arial"/>
              </a:defRPr>
            </a:pPr>
            <a:r>
              <a:rPr sz="2475" b="1">
                <a:solidFill>
                  <a:srgbClr val="94B8FF"/>
                </a:solidFill>
                <a:latin typeface="Arial"/>
                <a:ea typeface="Arial"/>
                <a:cs typeface="Arial"/>
              </a:rPr>
              <a:t>The handoff keeps the context</a:t>
            </a:r>
          </a:p>
        </p:txBody>
      </p:sp>
      <p:sp>
        <p:nvSpPr>
          <p:cNvPr id="5" name="text-42">
            <a:extLst xmlns:a="http://schemas.openxmlformats.org/drawingml/2006/main">
              <a:ext uri="{FF2B5EF4-FFF2-40B4-BE49-F238E27FC236}">
                <a16:creationId xmlns:a16="http://schemas.microsoft.com/office/drawing/2014/main" id="{A531678E-EF46-4895-8278-5C5D632B090D}"/>
              </a:ext>
            </a:extLst>
          </p:cNvPr>
          <p:cNvSpPr>
            <a:spLocks xmlns:a="http://schemas.openxmlformats.org/drawingml/2006/main" noGrp="1"/>
          </p:cNvSpPr>
          <p:nvPr/>
        </p:nvSpPr>
        <p:spPr>
          <a:xfrm xmlns:a="http://schemas.openxmlformats.org/drawingml/2006/main">
            <a:off x="609600" y="2247900"/>
            <a:ext cx="5953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EDF1FB"/>
                </a:solidFill>
                <a:latin typeface="Arial"/>
                <a:ea typeface="Arial"/>
                <a:cs typeface="Arial"/>
              </a:defRPr>
            </a:pPr>
            <a:r>
              <a:rPr sz="2250" b="0">
                <a:solidFill>
                  <a:srgbClr val="EDF1FB"/>
                </a:solidFill>
                <a:latin typeface="Arial"/>
                <a:ea typeface="Arial"/>
                <a:cs typeface="Arial"/>
              </a:rPr>
              <a:t>What the user expected</a:t>
            </a:r>
          </a:p>
          <a:p xmlns:a="http://schemas.openxmlformats.org/drawingml/2006/main">
            <a:pPr algn="l">
              <a:defRPr sz="2250" b="0">
                <a:solidFill>
                  <a:srgbClr val="EDF1FB"/>
                </a:solidFill>
                <a:latin typeface="Arial"/>
                <a:ea typeface="Arial"/>
                <a:cs typeface="Arial"/>
              </a:defRPr>
            </a:pPr>
            <a:r>
              <a:rPr sz="2250" b="0">
                <a:solidFill>
                  <a:srgbClr val="EDF1FB"/>
                </a:solidFill>
                <a:latin typeface="Arial"/>
                <a:ea typeface="Arial"/>
                <a:cs typeface="Arial"/>
              </a:rPr>
              <a:t>What actually happened</a:t>
            </a:r>
          </a:p>
          <a:p xmlns:a="http://schemas.openxmlformats.org/drawingml/2006/main">
            <a:pPr algn="l">
              <a:defRPr sz="2250" b="0">
                <a:solidFill>
                  <a:srgbClr val="EDF1FB"/>
                </a:solidFill>
                <a:latin typeface="Arial"/>
                <a:ea typeface="Arial"/>
                <a:cs typeface="Arial"/>
              </a:defRPr>
            </a:pPr>
            <a:r>
              <a:rPr sz="2250" b="0">
                <a:solidFill>
                  <a:srgbClr val="EDF1FB"/>
                </a:solidFill>
                <a:latin typeface="Arial"/>
                <a:ea typeface="Arial"/>
                <a:cs typeface="Arial"/>
              </a:rPr>
              <a:t>Which actions led to the failure</a:t>
            </a:r>
          </a:p>
          <a:p xmlns:a="http://schemas.openxmlformats.org/drawingml/2006/main">
            <a:pPr algn="l">
              <a:defRPr sz="2250" b="0">
                <a:solidFill>
                  <a:srgbClr val="EDF1FB"/>
                </a:solidFill>
                <a:latin typeface="Arial"/>
                <a:ea typeface="Arial"/>
                <a:cs typeface="Arial"/>
              </a:defRPr>
            </a:pPr>
            <a:r>
              <a:rPr sz="2250" b="0">
                <a:solidFill>
                  <a:srgbClr val="EDF1FB"/>
                </a:solidFill>
                <a:latin typeface="Arial"/>
                <a:ea typeface="Arial"/>
                <a:cs typeface="Arial"/>
              </a:rPr>
              <a:t>Which source and checks produced it</a:t>
            </a:r>
          </a:p>
        </p:txBody>
      </p:sp>
      <p:sp>
        <p:nvSpPr>
          <p:cNvPr id="6" name="text-43">
            <a:extLst xmlns:a="http://schemas.openxmlformats.org/drawingml/2006/main">
              <a:ext uri="{FF2B5EF4-FFF2-40B4-BE49-F238E27FC236}">
                <a16:creationId xmlns:a16="http://schemas.microsoft.com/office/drawing/2014/main" id="{BF454E74-E5A1-4129-B1DB-E82018915DF3}"/>
              </a:ext>
            </a:extLst>
          </p:cNvPr>
          <p:cNvSpPr>
            <a:spLocks xmlns:a="http://schemas.openxmlformats.org/drawingml/2006/main" noGrp="1"/>
          </p:cNvSpPr>
          <p:nvPr/>
        </p:nvSpPr>
        <p:spPr>
          <a:xfrm xmlns:a="http://schemas.openxmlformats.org/drawingml/2006/main">
            <a:off x="7391400" y="1466850"/>
            <a:ext cx="413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C0A6FF"/>
                </a:solidFill>
                <a:latin typeface="Arial"/>
                <a:ea typeface="Arial"/>
                <a:cs typeface="Arial"/>
              </a:defRPr>
            </a:pPr>
            <a:r>
              <a:rPr sz="2250" b="1">
                <a:solidFill>
                  <a:srgbClr val="C0A6FF"/>
                </a:solidFill>
                <a:latin typeface="Arial"/>
                <a:ea typeface="Arial"/>
                <a:cs typeface="Arial"/>
              </a:rPr>
              <a:t>Online workflow</a:t>
            </a:r>
          </a:p>
        </p:txBody>
      </p:sp>
      <p:sp>
        <p:nvSpPr>
          <p:cNvPr id="7" name="text-44">
            <a:extLst xmlns:a="http://schemas.openxmlformats.org/drawingml/2006/main">
              <a:ext uri="{FF2B5EF4-FFF2-40B4-BE49-F238E27FC236}">
                <a16:creationId xmlns:a16="http://schemas.microsoft.com/office/drawing/2014/main" id="{4E27F6F5-4A2E-4190-8E15-D0AE71DFABE1}"/>
              </a:ext>
            </a:extLst>
          </p:cNvPr>
          <p:cNvSpPr>
            <a:spLocks xmlns:a="http://schemas.openxmlformats.org/drawingml/2006/main" noGrp="1"/>
          </p:cNvSpPr>
          <p:nvPr/>
        </p:nvSpPr>
        <p:spPr>
          <a:xfrm xmlns:a="http://schemas.openxmlformats.org/drawingml/2006/main">
            <a:off x="7391400" y="2076450"/>
            <a:ext cx="41529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EDF1FB"/>
                </a:solidFill>
                <a:latin typeface="Arial"/>
                <a:ea typeface="Arial"/>
                <a:cs typeface="Arial"/>
              </a:defRPr>
            </a:pPr>
            <a:r>
              <a:rPr sz="2025" b="0">
                <a:solidFill>
                  <a:srgbClr val="EDF1FB"/>
                </a:solidFill>
                <a:latin typeface="Arial"/>
                <a:ea typeface="Arial"/>
                <a:cs typeface="Arial"/>
              </a:rPr>
              <a:t>Copy the repair instructions.</a:t>
            </a:r>
          </a:p>
          <a:p xmlns:a="http://schemas.openxmlformats.org/drawingml/2006/main">
            <a:pPr algn="l">
              <a:defRPr sz="2025" b="0">
                <a:solidFill>
                  <a:srgbClr val="EDF1FB"/>
                </a:solidFill>
                <a:latin typeface="Arial"/>
                <a:ea typeface="Arial"/>
                <a:cs typeface="Arial"/>
              </a:defRPr>
            </a:pPr>
            <a:r>
              <a:rPr sz="2025" b="0">
                <a:solidFill>
                  <a:srgbClr val="EDF1FB"/>
                </a:solidFill>
                <a:latin typeface="Arial"/>
                <a:ea typeface="Arial"/>
                <a:cs typeface="Arial"/>
              </a:rPr>
              <a:t>Paste them into your coding AI.</a:t>
            </a:r>
          </a:p>
          <a:p xmlns:a="http://schemas.openxmlformats.org/drawingml/2006/main">
            <a:pPr algn="l">
              <a:defRPr sz="2025" b="0">
                <a:solidFill>
                  <a:srgbClr val="EDF1FB"/>
                </a:solidFill>
                <a:latin typeface="Arial"/>
                <a:ea typeface="Arial"/>
                <a:cs typeface="Arial"/>
              </a:defRPr>
            </a:pPr>
            <a:r>
              <a:rPr sz="2025" b="0">
                <a:solidFill>
                  <a:srgbClr val="EDF1FB"/>
                </a:solidFill>
                <a:latin typeface="Arial"/>
                <a:ea typeface="Arial"/>
                <a:cs typeface="Arial"/>
              </a:rPr>
              <a:t>Bring back the updated app.</a:t>
            </a:r>
          </a:p>
        </p:txBody>
      </p:sp>
      <p:sp>
        <p:nvSpPr>
          <p:cNvPr id="8" name="text-45">
            <a:extLst xmlns:a="http://schemas.openxmlformats.org/drawingml/2006/main">
              <a:ext uri="{FF2B5EF4-FFF2-40B4-BE49-F238E27FC236}">
                <a16:creationId xmlns:a16="http://schemas.microsoft.com/office/drawing/2014/main" id="{324337EC-50B2-43D5-A0D3-40E05AC9D0C3}"/>
              </a:ext>
            </a:extLst>
          </p:cNvPr>
          <p:cNvSpPr>
            <a:spLocks xmlns:a="http://schemas.openxmlformats.org/drawingml/2006/main" noGrp="1"/>
          </p:cNvSpPr>
          <p:nvPr/>
        </p:nvSpPr>
        <p:spPr>
          <a:xfrm xmlns:a="http://schemas.openxmlformats.org/drawingml/2006/main">
            <a:off x="7391400" y="3886200"/>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C0A6FF"/>
                </a:solidFill>
                <a:latin typeface="Arial"/>
                <a:ea typeface="Arial"/>
                <a:cs typeface="Arial"/>
              </a:defRPr>
            </a:pPr>
            <a:r>
              <a:rPr sz="2250" b="1">
                <a:solidFill>
                  <a:srgbClr val="C0A6FF"/>
                </a:solidFill>
                <a:latin typeface="Arial"/>
                <a:ea typeface="Arial"/>
                <a:cs typeface="Arial"/>
              </a:rPr>
              <a:t>Local MCP workflow</a:t>
            </a:r>
          </a:p>
        </p:txBody>
      </p:sp>
      <p:sp>
        <p:nvSpPr>
          <p:cNvPr id="9" name="text-46">
            <a:extLst xmlns:a="http://schemas.openxmlformats.org/drawingml/2006/main">
              <a:ext uri="{FF2B5EF4-FFF2-40B4-BE49-F238E27FC236}">
                <a16:creationId xmlns:a16="http://schemas.microsoft.com/office/drawing/2014/main" id="{54E4CF9D-B2DE-4AE0-9D61-D4DA9E3D26EE}"/>
              </a:ext>
            </a:extLst>
          </p:cNvPr>
          <p:cNvSpPr>
            <a:spLocks xmlns:a="http://schemas.openxmlformats.org/drawingml/2006/main" noGrp="1"/>
          </p:cNvSpPr>
          <p:nvPr/>
        </p:nvSpPr>
        <p:spPr>
          <a:xfrm xmlns:a="http://schemas.openxmlformats.org/drawingml/2006/main">
            <a:off x="7391400" y="4486275"/>
            <a:ext cx="41529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EDF1FB"/>
                </a:solidFill>
                <a:latin typeface="Arial"/>
                <a:ea typeface="Arial"/>
                <a:cs typeface="Arial"/>
              </a:defRPr>
            </a:pPr>
            <a:r>
              <a:rPr sz="2025" b="0">
                <a:solidFill>
                  <a:srgbClr val="EDF1FB"/>
                </a:solidFill>
                <a:latin typeface="Arial"/>
                <a:ea typeface="Arial"/>
                <a:cs typeface="Arial"/>
              </a:rPr>
              <a:t>An authorized coding agent reads</a:t>
            </a:r>
          </a:p>
          <a:p xmlns:a="http://schemas.openxmlformats.org/drawingml/2006/main">
            <a:pPr algn="l">
              <a:defRPr sz="2025" b="0">
                <a:solidFill>
                  <a:srgbClr val="EDF1FB"/>
                </a:solidFill>
                <a:latin typeface="Arial"/>
                <a:ea typeface="Arial"/>
                <a:cs typeface="Arial"/>
              </a:defRPr>
            </a:pPr>
            <a:r>
              <a:rPr sz="2025" b="0">
                <a:solidFill>
                  <a:srgbClr val="EDF1FB"/>
                </a:solidFill>
                <a:latin typeface="Arial"/>
                <a:ea typeface="Arial"/>
                <a:cs typeface="Arial"/>
              </a:rPr>
              <a:t>the evidence, edits the source</a:t>
            </a:r>
          </a:p>
          <a:p xmlns:a="http://schemas.openxmlformats.org/drawingml/2006/main">
            <a:pPr algn="l">
              <a:defRPr sz="2025" b="0">
                <a:solidFill>
                  <a:srgbClr val="EDF1FB"/>
                </a:solidFill>
                <a:latin typeface="Arial"/>
                <a:ea typeface="Arial"/>
                <a:cs typeface="Arial"/>
              </a:defRPr>
            </a:pPr>
            <a:r>
              <a:rPr sz="2025" b="0">
                <a:solidFill>
                  <a:srgbClr val="EDF1FB"/>
                </a:solidFill>
                <a:latin typeface="Arial"/>
                <a:ea typeface="Arial"/>
                <a:cs typeface="Arial"/>
              </a:rPr>
              <a:t>and reruns the original checks.</a:t>
            </a:r>
          </a:p>
        </p:txBody>
      </p:sp>
    </p:spTree>
    <p:extLst>
      <p:ext uri="{BB962C8B-B14F-4D97-AF65-F5344CB8AC3E}">
        <p14:creationId xmlns:p14="http://schemas.microsoft.com/office/powerpoint/2010/main" val="1373970959"/>
      </p:ext>
    </p:extLst>
  </p:cSld>
</p:sld>
</file>

<file path=ppt/slides/slide6.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9" name="text-47">
            <a:extLst xmlns:a="http://schemas.openxmlformats.org/drawingml/2006/main">
              <a:ext uri="{FF2B5EF4-FFF2-40B4-BE49-F238E27FC236}">
                <a16:creationId xmlns:a16="http://schemas.microsoft.com/office/drawing/2014/main" id="{96267F9E-37ED-4BAF-A7DA-BF53BC754F7C}"/>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EDF1FB"/>
                </a:solidFill>
                <a:latin typeface="Arial"/>
                <a:ea typeface="Arial"/>
                <a:cs typeface="Arial"/>
              </a:defRPr>
            </a:pPr>
            <a:r>
              <a:rPr sz="3300" b="1">
                <a:solidFill>
                  <a:srgbClr val="EDF1FB"/>
                </a:solidFill>
                <a:latin typeface="Arial"/>
                <a:ea typeface="Arial"/>
                <a:cs typeface="Arial"/>
              </a:rPr>
              <a:t>IBM Bob built the initial foundation</a:t>
            </a:r>
          </a:p>
        </p:txBody>
      </p:sp>
      <p:sp>
        <p:nvSpPr>
          <p:cNvPr id="2" name="text-48">
            <a:extLst xmlns:a="http://schemas.openxmlformats.org/drawingml/2006/main">
              <a:ext uri="{FF2B5EF4-FFF2-40B4-BE49-F238E27FC236}">
                <a16:creationId xmlns:a16="http://schemas.microsoft.com/office/drawing/2014/main" id="{7EE5CF98-C41A-4684-BD97-5E2CA6AC3B61}"/>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A7B5D1"/>
                </a:solidFill>
                <a:latin typeface="Georgia"/>
                <a:ea typeface="Georgia"/>
                <a:cs typeface="Georgia"/>
              </a:defRPr>
            </a:pPr>
            <a:r>
              <a:rPr sz="1350" b="0">
                <a:solidFill>
                  <a:srgbClr val="A7B5D1"/>
                </a:solidFill>
                <a:latin typeface="Georgia"/>
                <a:ea typeface="Georgia"/>
                <a:cs typeface="Georgia"/>
              </a:rPr>
              <a:t>Ming</a:t>
            </a:r>
          </a:p>
        </p:txBody>
      </p:sp>
      <p:sp>
        <p:nvSpPr>
          <p:cNvPr id="3" name="text-49">
            <a:extLst xmlns:a="http://schemas.openxmlformats.org/drawingml/2006/main">
              <a:ext uri="{FF2B5EF4-FFF2-40B4-BE49-F238E27FC236}">
                <a16:creationId xmlns:a16="http://schemas.microsoft.com/office/drawing/2014/main" id="{5A56C140-75D0-4540-B64D-4F4B5D5D89DC}"/>
              </a:ext>
            </a:extLst>
          </p:cNvPr>
          <p:cNvSpPr>
            <a:spLocks xmlns:a="http://schemas.openxmlformats.org/drawingml/2006/main" noGrp="1"/>
          </p:cNvSpPr>
          <p:nvPr/>
        </p:nvSpPr>
        <p:spPr>
          <a:xfrm xmlns:a="http://schemas.openxmlformats.org/drawingml/2006/main">
            <a:off x="10763250" y="63817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A7B5D1"/>
                </a:solidFill>
                <a:latin typeface="Arial"/>
                <a:ea typeface="Arial"/>
                <a:cs typeface="Arial"/>
              </a:defRPr>
            </a:pPr>
            <a:r>
              <a:rPr sz="1200" b="0">
                <a:solidFill>
                  <a:srgbClr val="A7B5D1"/>
                </a:solidFill>
                <a:latin typeface="Arial"/>
                <a:ea typeface="Arial"/>
                <a:cs typeface="Arial"/>
              </a:rPr>
              <a:t>06 / 08</a:t>
            </a:r>
          </a:p>
        </p:txBody>
      </p:sp>
      <p:sp>
        <p:nvSpPr>
          <p:cNvPr id="4" name="text-50">
            <a:extLst xmlns:a="http://schemas.openxmlformats.org/drawingml/2006/main">
              <a:ext uri="{FF2B5EF4-FFF2-40B4-BE49-F238E27FC236}">
                <a16:creationId xmlns:a16="http://schemas.microsoft.com/office/drawing/2014/main" id="{A60B1DD6-038B-4B0F-B8F2-BCC1753F9508}"/>
              </a:ext>
            </a:extLst>
          </p:cNvPr>
          <p:cNvSpPr>
            <a:spLocks xmlns:a="http://schemas.openxmlformats.org/drawingml/2006/main" noGrp="1"/>
          </p:cNvSpPr>
          <p:nvPr/>
        </p:nvSpPr>
        <p:spPr>
          <a:xfrm xmlns:a="http://schemas.openxmlformats.org/drawingml/2006/main">
            <a:off x="609600" y="1466850"/>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94B8FF"/>
                </a:solidFill>
                <a:latin typeface="Arial"/>
                <a:ea typeface="Arial"/>
                <a:cs typeface="Arial"/>
              </a:defRPr>
            </a:pPr>
            <a:r>
              <a:rPr sz="2325" b="1">
                <a:solidFill>
                  <a:srgbClr val="94B8FF"/>
                </a:solidFill>
                <a:latin typeface="Arial"/>
                <a:ea typeface="Arial"/>
                <a:cs typeface="Arial"/>
              </a:rPr>
              <a:t>Browser execution</a:t>
            </a:r>
          </a:p>
          <a:p xmlns:a="http://schemas.openxmlformats.org/drawingml/2006/main">
            <a:pPr algn="l">
              <a:defRPr sz="2325" b="1">
                <a:solidFill>
                  <a:srgbClr val="94B8FF"/>
                </a:solidFill>
                <a:latin typeface="Arial"/>
                <a:ea typeface="Arial"/>
                <a:cs typeface="Arial"/>
              </a:defRPr>
            </a:pPr>
            <a:r>
              <a:rPr sz="2325" b="1">
                <a:solidFill>
                  <a:srgbClr val="94B8FF"/>
                </a:solidFill>
                <a:latin typeface="Arial"/>
                <a:ea typeface="Arial"/>
                <a:cs typeface="Arial"/>
              </a:rPr>
              <a:t>and evidence</a:t>
            </a:r>
          </a:p>
        </p:txBody>
      </p:sp>
      <p:sp>
        <p:nvSpPr>
          <p:cNvPr id="5" name="text-51">
            <a:extLst xmlns:a="http://schemas.openxmlformats.org/drawingml/2006/main">
              <a:ext uri="{FF2B5EF4-FFF2-40B4-BE49-F238E27FC236}">
                <a16:creationId xmlns:a16="http://schemas.microsoft.com/office/drawing/2014/main" id="{A51B8843-5E7B-42AE-9A3C-EEC865F4B918}"/>
              </a:ext>
            </a:extLst>
          </p:cNvPr>
          <p:cNvSpPr>
            <a:spLocks xmlns:a="http://schemas.openxmlformats.org/drawingml/2006/main" noGrp="1"/>
          </p:cNvSpPr>
          <p:nvPr/>
        </p:nvSpPr>
        <p:spPr>
          <a:xfrm xmlns:a="http://schemas.openxmlformats.org/drawingml/2006/main">
            <a:off x="609600" y="2628900"/>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94B8FF"/>
                </a:solidFill>
                <a:latin typeface="Arial"/>
                <a:ea typeface="Arial"/>
                <a:cs typeface="Arial"/>
              </a:defRPr>
            </a:pPr>
            <a:r>
              <a:rPr sz="2325" b="1">
                <a:solidFill>
                  <a:srgbClr val="94B8FF"/>
                </a:solidFill>
                <a:latin typeface="Arial"/>
                <a:ea typeface="Arial"/>
                <a:cs typeface="Arial"/>
              </a:rPr>
              <a:t>Model drafts</a:t>
            </a:r>
          </a:p>
          <a:p xmlns:a="http://schemas.openxmlformats.org/drawingml/2006/main">
            <a:pPr algn="l">
              <a:defRPr sz="2325" b="1">
                <a:solidFill>
                  <a:srgbClr val="94B8FF"/>
                </a:solidFill>
                <a:latin typeface="Arial"/>
                <a:ea typeface="Arial"/>
                <a:cs typeface="Arial"/>
              </a:defRPr>
            </a:pPr>
            <a:r>
              <a:rPr sz="2325" b="1">
                <a:solidFill>
                  <a:srgbClr val="94B8FF"/>
                </a:solidFill>
                <a:latin typeface="Arial"/>
                <a:ea typeface="Arial"/>
                <a:cs typeface="Arial"/>
              </a:rPr>
              <a:t>and confirmation</a:t>
            </a:r>
          </a:p>
        </p:txBody>
      </p:sp>
      <p:sp>
        <p:nvSpPr>
          <p:cNvPr id="6" name="text-52">
            <a:extLst xmlns:a="http://schemas.openxmlformats.org/drawingml/2006/main">
              <a:ext uri="{FF2B5EF4-FFF2-40B4-BE49-F238E27FC236}">
                <a16:creationId xmlns:a16="http://schemas.microsoft.com/office/drawing/2014/main" id="{C0ECB6D0-CE6B-4E3B-8794-FA9AB02597B2}"/>
              </a:ext>
            </a:extLst>
          </p:cNvPr>
          <p:cNvSpPr>
            <a:spLocks xmlns:a="http://schemas.openxmlformats.org/drawingml/2006/main" noGrp="1"/>
          </p:cNvSpPr>
          <p:nvPr/>
        </p:nvSpPr>
        <p:spPr>
          <a:xfrm xmlns:a="http://schemas.openxmlformats.org/drawingml/2006/main">
            <a:off x="609600" y="3790950"/>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94B8FF"/>
                </a:solidFill>
                <a:latin typeface="Arial"/>
                <a:ea typeface="Arial"/>
                <a:cs typeface="Arial"/>
              </a:defRPr>
            </a:pPr>
            <a:r>
              <a:rPr sz="2325" b="1">
                <a:solidFill>
                  <a:srgbClr val="94B8FF"/>
                </a:solidFill>
                <a:latin typeface="Arial"/>
                <a:ea typeface="Arial"/>
                <a:cs typeface="Arial"/>
              </a:rPr>
              <a:t>Repair and MCP</a:t>
            </a:r>
          </a:p>
          <a:p xmlns:a="http://schemas.openxmlformats.org/drawingml/2006/main">
            <a:pPr algn="l">
              <a:defRPr sz="2325" b="1">
                <a:solidFill>
                  <a:srgbClr val="94B8FF"/>
                </a:solidFill>
                <a:latin typeface="Arial"/>
                <a:ea typeface="Arial"/>
                <a:cs typeface="Arial"/>
              </a:defRPr>
            </a:pPr>
            <a:r>
              <a:rPr sz="2325" b="1">
                <a:solidFill>
                  <a:srgbClr val="94B8FF"/>
                </a:solidFill>
                <a:latin typeface="Arial"/>
                <a:ea typeface="Arial"/>
                <a:cs typeface="Arial"/>
              </a:rPr>
              <a:t>foundations</a:t>
            </a:r>
          </a:p>
        </p:txBody>
      </p:sp>
      <p:sp>
        <p:nvSpPr>
          <p:cNvPr id="7" name="text-53">
            <a:extLst xmlns:a="http://schemas.openxmlformats.org/drawingml/2006/main">
              <a:ext uri="{FF2B5EF4-FFF2-40B4-BE49-F238E27FC236}">
                <a16:creationId xmlns:a16="http://schemas.microsoft.com/office/drawing/2014/main" id="{625F6173-3072-4BED-B650-B53A21B3661C}"/>
              </a:ext>
            </a:extLst>
          </p:cNvPr>
          <p:cNvSpPr>
            <a:spLocks xmlns:a="http://schemas.openxmlformats.org/drawingml/2006/main" noGrp="1"/>
          </p:cNvSpPr>
          <p:nvPr/>
        </p:nvSpPr>
        <p:spPr>
          <a:xfrm xmlns:a="http://schemas.openxmlformats.org/drawingml/2006/main">
            <a:off x="609600" y="5086350"/>
            <a:ext cx="355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A7B5D1"/>
                </a:solidFill>
                <a:latin typeface="Arial"/>
                <a:ea typeface="Arial"/>
                <a:cs typeface="Arial"/>
              </a:defRPr>
            </a:pPr>
            <a:r>
              <a:rPr sz="1875" b="0">
                <a:solidFill>
                  <a:srgbClr val="A7B5D1"/>
                </a:solidFill>
                <a:latin typeface="Arial"/>
                <a:ea typeface="Arial"/>
                <a:cs typeface="Arial"/>
              </a:rPr>
              <a:t>Additional tools supported</a:t>
            </a:r>
          </a:p>
          <a:p xmlns:a="http://schemas.openxmlformats.org/drawingml/2006/main">
            <a:pPr algn="l">
              <a:defRPr sz="1875" b="0">
                <a:solidFill>
                  <a:srgbClr val="A7B5D1"/>
                </a:solidFill>
                <a:latin typeface="Arial"/>
                <a:ea typeface="Arial"/>
                <a:cs typeface="Arial"/>
              </a:defRPr>
            </a:pPr>
            <a:r>
              <a:rPr sz="1875" b="0">
                <a:solidFill>
                  <a:srgbClr val="A7B5D1"/>
                </a:solidFill>
                <a:latin typeface="Arial"/>
                <a:ea typeface="Arial"/>
                <a:cs typeface="Arial"/>
              </a:rPr>
              <a:t>completion and refinements.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69bbec1a4064563"/>
          <a:stretch xmlns:a="http://schemas.openxmlformats.org/drawingml/2006/main"/>
        </p:blipFill>
        <p:spPr>
          <a:xfrm xmlns:a="http://schemas.openxmlformats.org/drawingml/2006/main">
            <a:off x="4333875" y="1488224"/>
            <a:ext cx="7248525" cy="4519727"/>
          </a:xfrm>
          <a:prstGeom xmlns:a="http://schemas.openxmlformats.org/drawingml/2006/main" prst="rect">
            <a:avLst/>
          </a:prstGeom>
        </p:spPr>
      </p:pic>
    </p:spTree>
    <p:extLst>
      <p:ext uri="{BB962C8B-B14F-4D97-AF65-F5344CB8AC3E}">
        <p14:creationId xmlns:p14="http://schemas.microsoft.com/office/powerpoint/2010/main" val="1791956569"/>
      </p:ext>
    </p:extLst>
  </p:cSld>
</p:sld>
</file>

<file path=ppt/slides/slide7.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text-54">
            <a:extLst xmlns:a="http://schemas.openxmlformats.org/drawingml/2006/main">
              <a:ext uri="{FF2B5EF4-FFF2-40B4-BE49-F238E27FC236}">
                <a16:creationId xmlns:a16="http://schemas.microsoft.com/office/drawing/2014/main" id="{E35A149F-BC83-4F7D-8B7A-6A3F1F175D95}"/>
              </a:ext>
            </a:extLst>
          </p:cNvPr>
          <p:cNvSpPr>
            <a:spLocks xmlns:a="http://schemas.openxmlformats.org/drawingml/2006/main" noGrp="1"/>
          </p:cNvSpPr>
          <p:nvPr/>
        </p:nvSpPr>
        <p:spPr>
          <a:xfrm xmlns:a="http://schemas.openxmlformats.org/drawingml/2006/main">
            <a:off x="609600" y="419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EDF1FB"/>
                </a:solidFill>
                <a:latin typeface="Arial"/>
                <a:ea typeface="Arial"/>
                <a:cs typeface="Arial"/>
              </a:defRPr>
            </a:pPr>
            <a:r>
              <a:rPr sz="3300" b="1">
                <a:solidFill>
                  <a:srgbClr val="EDF1FB"/>
                </a:solidFill>
                <a:latin typeface="Arial"/>
                <a:ea typeface="Arial"/>
                <a:cs typeface="Arial"/>
              </a:rPr>
              <a:t>Reusable checks replace repeated manual work</a:t>
            </a:r>
          </a:p>
        </p:txBody>
      </p:sp>
      <p:sp>
        <p:nvSpPr>
          <p:cNvPr id="2" name="text-55">
            <a:extLst xmlns:a="http://schemas.openxmlformats.org/drawingml/2006/main">
              <a:ext uri="{FF2B5EF4-FFF2-40B4-BE49-F238E27FC236}">
                <a16:creationId xmlns:a16="http://schemas.microsoft.com/office/drawing/2014/main" id="{0A42D53F-DC6C-4B7D-81BB-F3A523472894}"/>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A7B5D1"/>
                </a:solidFill>
                <a:latin typeface="Georgia"/>
                <a:ea typeface="Georgia"/>
                <a:cs typeface="Georgia"/>
              </a:defRPr>
            </a:pPr>
            <a:r>
              <a:rPr sz="1350" b="0">
                <a:solidFill>
                  <a:srgbClr val="A7B5D1"/>
                </a:solidFill>
                <a:latin typeface="Georgia"/>
                <a:ea typeface="Georgia"/>
                <a:cs typeface="Georgia"/>
              </a:rPr>
              <a:t>Ming</a:t>
            </a:r>
          </a:p>
        </p:txBody>
      </p:sp>
      <p:sp>
        <p:nvSpPr>
          <p:cNvPr id="3" name="text-56">
            <a:extLst xmlns:a="http://schemas.openxmlformats.org/drawingml/2006/main">
              <a:ext uri="{FF2B5EF4-FFF2-40B4-BE49-F238E27FC236}">
                <a16:creationId xmlns:a16="http://schemas.microsoft.com/office/drawing/2014/main" id="{D944FE63-517D-4A04-AC21-B29EFDEAEF74}"/>
              </a:ext>
            </a:extLst>
          </p:cNvPr>
          <p:cNvSpPr>
            <a:spLocks xmlns:a="http://schemas.openxmlformats.org/drawingml/2006/main" noGrp="1"/>
          </p:cNvSpPr>
          <p:nvPr/>
        </p:nvSpPr>
        <p:spPr>
          <a:xfrm xmlns:a="http://schemas.openxmlformats.org/drawingml/2006/main">
            <a:off x="10763250" y="63817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A7B5D1"/>
                </a:solidFill>
                <a:latin typeface="Arial"/>
                <a:ea typeface="Arial"/>
                <a:cs typeface="Arial"/>
              </a:defRPr>
            </a:pPr>
            <a:r>
              <a:rPr sz="1200" b="0">
                <a:solidFill>
                  <a:srgbClr val="A7B5D1"/>
                </a:solidFill>
                <a:latin typeface="Arial"/>
                <a:ea typeface="Arial"/>
                <a:cs typeface="Arial"/>
              </a:rPr>
              <a:t>07 / 08</a:t>
            </a:r>
          </a:p>
        </p:txBody>
      </p:sp>
      <p:sp>
        <p:nvSpPr>
          <p:cNvPr id="4" name="text-57">
            <a:extLst xmlns:a="http://schemas.openxmlformats.org/drawingml/2006/main">
              <a:ext uri="{FF2B5EF4-FFF2-40B4-BE49-F238E27FC236}">
                <a16:creationId xmlns:a16="http://schemas.microsoft.com/office/drawing/2014/main" id="{6B690B64-A898-483E-8D8C-D2BEF8365E48}"/>
              </a:ext>
            </a:extLst>
          </p:cNvPr>
          <p:cNvSpPr>
            <a:spLocks xmlns:a="http://schemas.openxmlformats.org/drawingml/2006/main" noGrp="1"/>
          </p:cNvSpPr>
          <p:nvPr/>
        </p:nvSpPr>
        <p:spPr>
          <a:xfrm xmlns:a="http://schemas.openxmlformats.org/drawingml/2006/main">
            <a:off x="609600" y="154305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EDF1FB"/>
                </a:solidFill>
                <a:latin typeface="Arial"/>
                <a:ea typeface="Arial"/>
                <a:cs typeface="Arial"/>
              </a:defRPr>
            </a:pPr>
            <a:r>
              <a:rPr sz="3150" b="1">
                <a:solidFill>
                  <a:srgbClr val="EDF1FB"/>
                </a:solidFill>
                <a:latin typeface="Arial"/>
                <a:ea typeface="Arial"/>
                <a:cs typeface="Arial"/>
              </a:rPr>
              <a:t>Ming repeats the browser actions,</a:t>
            </a:r>
          </a:p>
          <a:p xmlns:a="http://schemas.openxmlformats.org/drawingml/2006/main">
            <a:pPr algn="l">
              <a:defRPr sz="3150" b="1">
                <a:solidFill>
                  <a:srgbClr val="EDF1FB"/>
                </a:solidFill>
                <a:latin typeface="Arial"/>
                <a:ea typeface="Arial"/>
                <a:cs typeface="Arial"/>
              </a:defRPr>
            </a:pPr>
            <a:r>
              <a:rPr sz="3150" b="1">
                <a:solidFill>
                  <a:srgbClr val="EDF1FB"/>
                </a:solidFill>
                <a:latin typeface="Arial"/>
                <a:ea typeface="Arial"/>
                <a:cs typeface="Arial"/>
              </a:rPr>
              <a:t>records the failure and keeps</a:t>
            </a:r>
          </a:p>
          <a:p xmlns:a="http://schemas.openxmlformats.org/drawingml/2006/main">
            <a:pPr algn="l">
              <a:defRPr sz="3150" b="1">
                <a:solidFill>
                  <a:srgbClr val="EDF1FB"/>
                </a:solidFill>
                <a:latin typeface="Arial"/>
                <a:ea typeface="Arial"/>
                <a:cs typeface="Arial"/>
              </a:defRPr>
            </a:pPr>
            <a:r>
              <a:rPr sz="3150" b="1">
                <a:solidFill>
                  <a:srgbClr val="EDF1FB"/>
                </a:solidFill>
                <a:latin typeface="Arial"/>
                <a:ea typeface="Arial"/>
                <a:cs typeface="Arial"/>
              </a:rPr>
              <a:t>the same standard for the next run.</a:t>
            </a:r>
          </a:p>
        </p:txBody>
      </p:sp>
      <p:sp>
        <p:nvSpPr>
          <p:cNvPr id="5" name="text-58">
            <a:extLst xmlns:a="http://schemas.openxmlformats.org/drawingml/2006/main">
              <a:ext uri="{FF2B5EF4-FFF2-40B4-BE49-F238E27FC236}">
                <a16:creationId xmlns:a16="http://schemas.microsoft.com/office/drawing/2014/main" id="{BBB9CAFB-264A-41B7-B047-B86C57CDFCE1}"/>
              </a:ext>
            </a:extLst>
          </p:cNvPr>
          <p:cNvSpPr>
            <a:spLocks xmlns:a="http://schemas.openxmlformats.org/drawingml/2006/main" noGrp="1"/>
          </p:cNvSpPr>
          <p:nvPr/>
        </p:nvSpPr>
        <p:spPr>
          <a:xfrm xmlns:a="http://schemas.openxmlformats.org/drawingml/2006/main">
            <a:off x="609600" y="38100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94B8FF"/>
                </a:solidFill>
                <a:latin typeface="Arial"/>
                <a:ea typeface="Arial"/>
                <a:cs typeface="Arial"/>
              </a:defRPr>
            </a:pPr>
            <a:r>
              <a:rPr sz="2325" b="1">
                <a:solidFill>
                  <a:srgbClr val="94B8FF"/>
                </a:solidFill>
                <a:latin typeface="Arial"/>
                <a:ea typeface="Arial"/>
                <a:cs typeface="Arial"/>
              </a:rPr>
              <a:t>Online</a:t>
            </a:r>
          </a:p>
        </p:txBody>
      </p:sp>
      <p:sp>
        <p:nvSpPr>
          <p:cNvPr id="6" name="text-59">
            <a:extLst xmlns:a="http://schemas.openxmlformats.org/drawingml/2006/main">
              <a:ext uri="{FF2B5EF4-FFF2-40B4-BE49-F238E27FC236}">
                <a16:creationId xmlns:a16="http://schemas.microsoft.com/office/drawing/2014/main" id="{A51851EE-726F-434B-BA9E-70547E206956}"/>
              </a:ext>
            </a:extLst>
          </p:cNvPr>
          <p:cNvSpPr>
            <a:spLocks xmlns:a="http://schemas.openxmlformats.org/drawingml/2006/main" noGrp="1"/>
          </p:cNvSpPr>
          <p:nvPr/>
        </p:nvSpPr>
        <p:spPr>
          <a:xfrm xmlns:a="http://schemas.openxmlformats.org/drawingml/2006/main">
            <a:off x="609600" y="4429125"/>
            <a:ext cx="52006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EDF1FB"/>
                </a:solidFill>
                <a:latin typeface="Arial"/>
                <a:ea typeface="Arial"/>
                <a:cs typeface="Arial"/>
              </a:defRPr>
            </a:pPr>
            <a:r>
              <a:rPr sz="1950" b="0">
                <a:solidFill>
                  <a:srgbClr val="EDF1FB"/>
                </a:solidFill>
                <a:latin typeface="Arial"/>
                <a:ea typeface="Arial"/>
                <a:cs typeface="Arial"/>
              </a:rPr>
              <a:t>HTML, built static ZIPs and public</a:t>
            </a:r>
          </a:p>
          <a:p xmlns:a="http://schemas.openxmlformats.org/drawingml/2006/main">
            <a:pPr algn="l">
              <a:defRPr sz="1950" b="0">
                <a:solidFill>
                  <a:srgbClr val="EDF1FB"/>
                </a:solidFill>
                <a:latin typeface="Arial"/>
                <a:ea typeface="Arial"/>
                <a:cs typeface="Arial"/>
              </a:defRPr>
            </a:pPr>
            <a:r>
              <a:rPr sz="1950" b="0">
                <a:solidFill>
                  <a:srgbClr val="EDF1FB"/>
                </a:solidFill>
                <a:latin typeface="Arial"/>
                <a:ea typeface="Arial"/>
                <a:cs typeface="Arial"/>
              </a:rPr>
              <a:t>GitHub website folders.</a:t>
            </a:r>
          </a:p>
          <a:p xmlns:a="http://schemas.openxmlformats.org/drawingml/2006/main">
            <a:pPr algn="l">
              <a:defRPr sz="1950" b="0">
                <a:solidFill>
                  <a:srgbClr val="EDF1FB"/>
                </a:solidFill>
                <a:latin typeface="Arial"/>
                <a:ea typeface="Arial"/>
                <a:cs typeface="Arial"/>
              </a:defRPr>
            </a:pPr>
            <a:r>
              <a:rPr sz="1950" b="0">
                <a:solidFill>
                  <a:srgbClr val="EDF1FB"/>
                </a:solidFill>
                <a:latin typeface="Arial"/>
                <a:ea typeface="Arial"/>
                <a:cs typeface="Arial"/>
              </a:rPr>
              <a:t>AI drafts require an explicit request.</a:t>
            </a:r>
          </a:p>
        </p:txBody>
      </p:sp>
      <p:sp>
        <p:nvSpPr>
          <p:cNvPr id="7" name="text-60">
            <a:extLst xmlns:a="http://schemas.openxmlformats.org/drawingml/2006/main">
              <a:ext uri="{FF2B5EF4-FFF2-40B4-BE49-F238E27FC236}">
                <a16:creationId xmlns:a16="http://schemas.microsoft.com/office/drawing/2014/main" id="{1C29321A-CCEB-42D6-A987-3B3ECBACF5D2}"/>
              </a:ext>
            </a:extLst>
          </p:cNvPr>
          <p:cNvSpPr>
            <a:spLocks xmlns:a="http://schemas.openxmlformats.org/drawingml/2006/main" noGrp="1"/>
          </p:cNvSpPr>
          <p:nvPr/>
        </p:nvSpPr>
        <p:spPr>
          <a:xfrm xmlns:a="http://schemas.openxmlformats.org/drawingml/2006/main">
            <a:off x="6705600" y="3810000"/>
            <a:ext cx="4838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C0A6FF"/>
                </a:solidFill>
                <a:latin typeface="Arial"/>
                <a:ea typeface="Arial"/>
                <a:cs typeface="Arial"/>
              </a:defRPr>
            </a:pPr>
            <a:r>
              <a:rPr sz="2325" b="1">
                <a:solidFill>
                  <a:srgbClr val="C0A6FF"/>
                </a:solidFill>
                <a:latin typeface="Arial"/>
                <a:ea typeface="Arial"/>
                <a:cs typeface="Arial"/>
              </a:rPr>
              <a:t>Local</a:t>
            </a:r>
          </a:p>
        </p:txBody>
      </p:sp>
      <p:sp>
        <p:nvSpPr>
          <p:cNvPr id="8" name="text-61">
            <a:extLst xmlns:a="http://schemas.openxmlformats.org/drawingml/2006/main">
              <a:ext uri="{FF2B5EF4-FFF2-40B4-BE49-F238E27FC236}">
                <a16:creationId xmlns:a16="http://schemas.microsoft.com/office/drawing/2014/main" id="{62CF0408-D4CB-4E8A-9EA6-C00320AD0301}"/>
              </a:ext>
            </a:extLst>
          </p:cNvPr>
          <p:cNvSpPr>
            <a:spLocks xmlns:a="http://schemas.openxmlformats.org/drawingml/2006/main" noGrp="1"/>
          </p:cNvSpPr>
          <p:nvPr/>
        </p:nvSpPr>
        <p:spPr>
          <a:xfrm xmlns:a="http://schemas.openxmlformats.org/drawingml/2006/main">
            <a:off x="6705600" y="4429125"/>
            <a:ext cx="4876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EDF1FB"/>
                </a:solidFill>
                <a:latin typeface="Arial"/>
                <a:ea typeface="Arial"/>
                <a:cs typeface="Arial"/>
              </a:defRPr>
            </a:pPr>
            <a:r>
              <a:rPr sz="1950" b="0">
                <a:solidFill>
                  <a:srgbClr val="EDF1FB"/>
                </a:solidFill>
                <a:latin typeface="Arial"/>
                <a:ea typeface="Arial"/>
                <a:cs typeface="Arial"/>
              </a:rPr>
              <a:t>Running development apps with</a:t>
            </a:r>
          </a:p>
          <a:p xmlns:a="http://schemas.openxmlformats.org/drawingml/2006/main">
            <a:pPr algn="l">
              <a:defRPr sz="1950" b="0">
                <a:solidFill>
                  <a:srgbClr val="EDF1FB"/>
                </a:solidFill>
                <a:latin typeface="Arial"/>
                <a:ea typeface="Arial"/>
                <a:cs typeface="Arial"/>
              </a:defRPr>
            </a:pPr>
            <a:r>
              <a:rPr sz="1950" b="0">
                <a:solidFill>
                  <a:srgbClr val="EDF1FB"/>
                </a:solidFill>
                <a:latin typeface="Arial"/>
                <a:ea typeface="Arial"/>
                <a:cs typeface="Arial"/>
              </a:rPr>
              <a:t>the local runner and MCP connection.</a:t>
            </a:r>
          </a:p>
          <a:p xmlns:a="http://schemas.openxmlformats.org/drawingml/2006/main">
            <a:pPr algn="l">
              <a:defRPr sz="1950" b="0">
                <a:solidFill>
                  <a:srgbClr val="EDF1FB"/>
                </a:solidFill>
                <a:latin typeface="Arial"/>
                <a:ea typeface="Arial"/>
                <a:cs typeface="Arial"/>
              </a:defRPr>
            </a:pPr>
            <a:r>
              <a:rPr sz="1950" b="0">
                <a:solidFill>
                  <a:srgbClr val="EDF1FB"/>
                </a:solidFill>
                <a:latin typeface="Arial"/>
                <a:ea typeface="Arial"/>
                <a:cs typeface="Arial"/>
              </a:rPr>
              <a:t>The app handles its own dependencies.</a:t>
            </a:r>
          </a:p>
        </p:txBody>
      </p:sp>
      <p:sp>
        <p:nvSpPr>
          <p:cNvPr id="9" name="text-62">
            <a:extLst xmlns:a="http://schemas.openxmlformats.org/drawingml/2006/main">
              <a:ext uri="{FF2B5EF4-FFF2-40B4-BE49-F238E27FC236}">
                <a16:creationId xmlns:a16="http://schemas.microsoft.com/office/drawing/2014/main" id="{E655C62B-A10F-42FD-A1C8-5A4717D4D8F3}"/>
              </a:ext>
            </a:extLst>
          </p:cNvPr>
          <p:cNvSpPr>
            <a:spLocks xmlns:a="http://schemas.openxmlformats.org/drawingml/2006/main" noGrp="1"/>
          </p:cNvSpPr>
          <p:nvPr/>
        </p:nvSpPr>
        <p:spPr>
          <a:xfrm xmlns:a="http://schemas.openxmlformats.org/drawingml/2006/main">
            <a:off x="609600" y="59150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A7B5D1"/>
                </a:solidFill>
                <a:latin typeface="Arial"/>
                <a:ea typeface="Arial"/>
                <a:cs typeface="Arial"/>
              </a:defRPr>
            </a:pPr>
            <a:r>
              <a:rPr sz="1650" b="0">
                <a:solidFill>
                  <a:srgbClr val="A7B5D1"/>
                </a:solidFill>
                <a:latin typeface="Arial"/>
                <a:ea typeface="Arial"/>
                <a:cs typeface="Arial"/>
              </a:rPr>
              <a:t>Passing means the approved checks passed. It does not certify every possible behavior.</a:t>
            </a:r>
          </a:p>
        </p:txBody>
      </p:sp>
    </p:spTree>
    <p:extLst>
      <p:ext uri="{BB962C8B-B14F-4D97-AF65-F5344CB8AC3E}">
        <p14:creationId xmlns:p14="http://schemas.microsoft.com/office/powerpoint/2010/main" val="293354580"/>
      </p:ext>
    </p:extLst>
  </p:cSld>
</p:sld>
</file>

<file path=ppt/slides/slide8.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5e248a546064e3b"/>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63">
            <a:extLst xmlns:a="http://schemas.openxmlformats.org/drawingml/2006/main">
              <a:ext uri="{FF2B5EF4-FFF2-40B4-BE49-F238E27FC236}">
                <a16:creationId xmlns:a16="http://schemas.microsoft.com/office/drawing/2014/main" id="{A82078E3-47E2-4F2A-BE8F-9568DB90D381}"/>
              </a:ext>
            </a:extLst>
          </p:cNvPr>
          <p:cNvSpPr>
            <a:spLocks xmlns:a="http://schemas.openxmlformats.org/drawingml/2006/main" noGrp="1"/>
          </p:cNvSpPr>
          <p:nvPr/>
        </p:nvSpPr>
        <p:spPr>
          <a:xfrm xmlns:a="http://schemas.openxmlformats.org/drawingml/2006/main">
            <a:off x="609600" y="809625"/>
            <a:ext cx="723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900" b="0">
                <a:solidFill>
                  <a:srgbClr val="EDF1FB"/>
                </a:solidFill>
                <a:latin typeface="Georgia"/>
                <a:ea typeface="Georgia"/>
                <a:cs typeface="Georgia"/>
              </a:defRPr>
            </a:pPr>
            <a:r>
              <a:rPr sz="6900" b="0">
                <a:solidFill>
                  <a:srgbClr val="EDF1FB"/>
                </a:solidFill>
                <a:latin typeface="Georgia"/>
                <a:ea typeface="Georgia"/>
                <a:cs typeface="Georgia"/>
              </a:rPr>
              <a:t>Ming</a:t>
            </a:r>
          </a:p>
        </p:txBody>
      </p:sp>
      <p:sp>
        <p:nvSpPr>
          <p:cNvPr id="3" name="text-64">
            <a:extLst xmlns:a="http://schemas.openxmlformats.org/drawingml/2006/main">
              <a:ext uri="{FF2B5EF4-FFF2-40B4-BE49-F238E27FC236}">
                <a16:creationId xmlns:a16="http://schemas.microsoft.com/office/drawing/2014/main" id="{251998A1-D92E-46CD-BEDD-88A03C7F66F0}"/>
              </a:ext>
            </a:extLst>
          </p:cNvPr>
          <p:cNvSpPr>
            <a:spLocks xmlns:a="http://schemas.openxmlformats.org/drawingml/2006/main" noGrp="1"/>
          </p:cNvSpPr>
          <p:nvPr/>
        </p:nvSpPr>
        <p:spPr>
          <a:xfrm xmlns:a="http://schemas.openxmlformats.org/drawingml/2006/main">
            <a:off x="666750" y="2152650"/>
            <a:ext cx="809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EDF1FB"/>
                </a:solidFill>
                <a:latin typeface="Arial"/>
                <a:ea typeface="Arial"/>
                <a:cs typeface="Arial"/>
              </a:defRPr>
            </a:pPr>
            <a:r>
              <a:rPr sz="3000" b="1">
                <a:solidFill>
                  <a:srgbClr val="EDF1FB"/>
                </a:solidFill>
                <a:latin typeface="Arial"/>
                <a:ea typeface="Arial"/>
                <a:cs typeface="Arial"/>
              </a:rPr>
              <a:t>Every “done” comes with proof</a:t>
            </a:r>
          </a:p>
        </p:txBody>
      </p:sp>
      <p:sp>
        <p:nvSpPr>
          <p:cNvPr id="4" name="text-65">
            <a:extLst xmlns:a="http://schemas.openxmlformats.org/drawingml/2006/main">
              <a:ext uri="{FF2B5EF4-FFF2-40B4-BE49-F238E27FC236}">
                <a16:creationId xmlns:a16="http://schemas.microsoft.com/office/drawing/2014/main" id="{36F26F72-1609-444A-BF83-799FE47F1454}"/>
              </a:ext>
            </a:extLst>
          </p:cNvPr>
          <p:cNvSpPr>
            <a:spLocks xmlns:a="http://schemas.openxmlformats.org/drawingml/2006/main" noGrp="1"/>
          </p:cNvSpPr>
          <p:nvPr/>
        </p:nvSpPr>
        <p:spPr>
          <a:xfrm xmlns:a="http://schemas.openxmlformats.org/drawingml/2006/main">
            <a:off x="685800" y="3476625"/>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94B8FF"/>
                </a:solidFill>
                <a:latin typeface="Arial"/>
                <a:ea typeface="Arial"/>
                <a:cs typeface="Arial"/>
              </a:defRPr>
            </a:pPr>
            <a:r>
              <a:rPr sz="2250" b="1">
                <a:solidFill>
                  <a:srgbClr val="94B8FF"/>
                </a:solidFill>
                <a:latin typeface="Arial"/>
                <a:ea typeface="Arial"/>
                <a:cs typeface="Arial"/>
              </a:rPr>
              <a:t>Project links</a:t>
            </a:r>
          </a:p>
        </p:txBody>
      </p:sp>
      <p:sp>
        <p:nvSpPr>
          <p:cNvPr id="5" name="text-66">
            <a:extLst xmlns:a="http://schemas.openxmlformats.org/drawingml/2006/main">
              <a:ext uri="{FF2B5EF4-FFF2-40B4-BE49-F238E27FC236}">
                <a16:creationId xmlns:a16="http://schemas.microsoft.com/office/drawing/2014/main" id="{CAEF5A3A-E0DD-414A-AAC7-96C7E03EE241}"/>
              </a:ext>
            </a:extLst>
          </p:cNvPr>
          <p:cNvSpPr>
            <a:spLocks xmlns:a="http://schemas.openxmlformats.org/drawingml/2006/main" noGrp="1"/>
          </p:cNvSpPr>
          <p:nvPr/>
        </p:nvSpPr>
        <p:spPr>
          <a:xfrm xmlns:a="http://schemas.openxmlformats.org/drawingml/2006/main">
            <a:off x="685800" y="41148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EDF1FB"/>
                </a:solidFill>
                <a:latin typeface="Arial"/>
                <a:ea typeface="Arial"/>
                <a:cs typeface="Arial"/>
              </a:defRPr>
            </a:pPr>
            <a:r>
              <a:rPr u="sng">
                <a:solidFill>
                  <a:srgbClr val="EDF1FB"/>
                </a:solidFill>
                <a:hlinkClick xmlns:r="http://schemas.openxmlformats.org/officeDocument/2006/relationships" r:id="R32ff9fb487f94980"/>
              </a:rPr>
              <a:t>ming-acceptance-proof.amosming.chatgpt.site</a:t>
            </a:r>
          </a:p>
        </p:txBody>
      </p:sp>
      <p:sp>
        <p:nvSpPr>
          <p:cNvPr id="6" name="text-67">
            <a:extLst xmlns:a="http://schemas.openxmlformats.org/drawingml/2006/main">
              <a:ext uri="{FF2B5EF4-FFF2-40B4-BE49-F238E27FC236}">
                <a16:creationId xmlns:a16="http://schemas.microsoft.com/office/drawing/2014/main" id="{D25F5119-D0DD-49EE-9802-429FA554EC1D}"/>
              </a:ext>
            </a:extLst>
          </p:cNvPr>
          <p:cNvSpPr>
            <a:spLocks xmlns:a="http://schemas.openxmlformats.org/drawingml/2006/main" noGrp="1"/>
          </p:cNvSpPr>
          <p:nvPr/>
        </p:nvSpPr>
        <p:spPr>
          <a:xfrm xmlns:a="http://schemas.openxmlformats.org/drawingml/2006/main">
            <a:off x="685800" y="4876800"/>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EDF1FB"/>
                </a:solidFill>
                <a:latin typeface="Arial"/>
                <a:ea typeface="Arial"/>
                <a:cs typeface="Arial"/>
              </a:defRPr>
            </a:pPr>
            <a:r>
              <a:rPr u="sng">
                <a:solidFill>
                  <a:srgbClr val="EDF1FB"/>
                </a:solidFill>
                <a:hlinkClick xmlns:r="http://schemas.openxmlformats.org/officeDocument/2006/relationships" r:id="R23f0aff73b6545a0"/>
              </a:rPr>
              <a:t>github.com/Ming-Amos/Ming</a:t>
            </a:r>
          </a:p>
        </p:txBody>
      </p:sp>
      <p:sp>
        <p:nvSpPr>
          <p:cNvPr id="7" name="text-68">
            <a:extLst xmlns:a="http://schemas.openxmlformats.org/drawingml/2006/main">
              <a:ext uri="{FF2B5EF4-FFF2-40B4-BE49-F238E27FC236}">
                <a16:creationId xmlns:a16="http://schemas.microsoft.com/office/drawing/2014/main" id="{71B0CED3-A7AA-4097-A7D1-5E75C5DD2AD6}"/>
              </a:ext>
            </a:extLst>
          </p:cNvPr>
          <p:cNvSpPr>
            <a:spLocks xmlns:a="http://schemas.openxmlformats.org/drawingml/2006/main" noGrp="1"/>
          </p:cNvSpPr>
          <p:nvPr/>
        </p:nvSpPr>
        <p:spPr>
          <a:xfrm xmlns:a="http://schemas.openxmlformats.org/drawingml/2006/main">
            <a:off x="685800" y="5924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7B5D1"/>
                </a:solidFill>
                <a:latin typeface="Arial"/>
                <a:ea typeface="Arial"/>
                <a:cs typeface="Arial"/>
              </a:defRPr>
            </a:pPr>
            <a:r>
              <a:rPr sz="1800" b="0">
                <a:solidFill>
                  <a:srgbClr val="A7B5D1"/>
                </a:solidFill>
                <a:latin typeface="Arial"/>
                <a:ea typeface="Arial"/>
                <a:cs typeface="Arial"/>
              </a:rPr>
              <a:t>Application, source code and original Bob session records</a:t>
            </a:r>
          </a:p>
        </p:txBody>
      </p:sp>
    </p:spTree>
    <p:extLst>
      <p:ext uri="{BB962C8B-B14F-4D97-AF65-F5344CB8AC3E}">
        <p14:creationId xmlns:p14="http://schemas.microsoft.com/office/powerpoint/2010/main" val="2633558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2026-09-27T06:03:36.6190000Z</dcterms:created>
  <dcterms:modified xsi:type="dcterms:W3CDTF">2026-09-27T06:03:36.6200000Z</dcterms:modified>
</coreProperties>
</file>